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1239" r:id="rId4"/>
    <p:sldId id="1240" r:id="rId5"/>
    <p:sldId id="1242" r:id="rId6"/>
    <p:sldId id="1245" r:id="rId7"/>
    <p:sldId id="1271" r:id="rId8"/>
    <p:sldId id="1249" r:id="rId9"/>
    <p:sldId id="1280" r:id="rId10"/>
    <p:sldId id="1248" r:id="rId11"/>
    <p:sldId id="1276" r:id="rId12"/>
    <p:sldId id="1268" r:id="rId13"/>
    <p:sldId id="1291" r:id="rId14"/>
    <p:sldId id="1266" r:id="rId15"/>
    <p:sldId id="1267" r:id="rId16"/>
    <p:sldId id="1264" r:id="rId17"/>
    <p:sldId id="1265" r:id="rId18"/>
    <p:sldId id="1293" r:id="rId19"/>
    <p:sldId id="1292" r:id="rId20"/>
    <p:sldId id="1257" r:id="rId21"/>
    <p:sldId id="1252" r:id="rId22"/>
    <p:sldId id="1251" r:id="rId23"/>
    <p:sldId id="1279" r:id="rId24"/>
    <p:sldId id="1272" r:id="rId25"/>
    <p:sldId id="1273" r:id="rId26"/>
    <p:sldId id="1274" r:id="rId27"/>
    <p:sldId id="1258" r:id="rId28"/>
    <p:sldId id="1253" r:id="rId29"/>
    <p:sldId id="1254" r:id="rId30"/>
    <p:sldId id="1278" r:id="rId31"/>
    <p:sldId id="1277" r:id="rId32"/>
    <p:sldId id="1283" r:id="rId33"/>
    <p:sldId id="1294" r:id="rId34"/>
    <p:sldId id="1281" r:id="rId35"/>
    <p:sldId id="1284" r:id="rId36"/>
    <p:sldId id="1259" r:id="rId37"/>
    <p:sldId id="1255" r:id="rId38"/>
    <p:sldId id="1260" r:id="rId39"/>
    <p:sldId id="1262" r:id="rId40"/>
    <p:sldId id="1263" r:id="rId41"/>
    <p:sldId id="1285" r:id="rId42"/>
    <p:sldId id="1288" r:id="rId43"/>
    <p:sldId id="1286" r:id="rId44"/>
    <p:sldId id="1296" r:id="rId45"/>
    <p:sldId id="1295" r:id="rId46"/>
    <p:sldId id="1289" r:id="rId47"/>
    <p:sldId id="1290" r:id="rId4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I ANH TRAN/LGEVH VS FUNCTIONAL TECHNOLOGY 3(tai2.tran@lge.com)" initials="TATVFT3" lastIdx="8" clrIdx="0">
    <p:extLst>
      <p:ext uri="{19B8F6BF-5375-455C-9EA6-DF929625EA0E}">
        <p15:presenceInfo xmlns:p15="http://schemas.microsoft.com/office/powerpoint/2012/main" userId="S-1-5-21-2543426832-1914326140-3112152631-18296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7872" autoAdjust="0"/>
  </p:normalViewPr>
  <p:slideViewPr>
    <p:cSldViewPr snapToGrid="0">
      <p:cViewPr varScale="1">
        <p:scale>
          <a:sx n="179" d="100"/>
          <a:sy n="179" d="100"/>
        </p:scale>
        <p:origin x="332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05010-5649-6C4A-B265-CF4F03B2978D}" type="datetimeFigureOut">
              <a:rPr lang="x-none" smtClean="0"/>
              <a:t>10/21/2025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29DD5-7D86-A745-A39B-52ACF18C479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7963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2194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2906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5143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455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6862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7004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36551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86705BB-875B-8853-2B94-F6A61A72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A3E71CDA-5529-C4CA-C208-1885FC0A5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5E7553D8-6ED9-4A82-461E-3827A03B4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8C01A53-F59A-5E50-55B8-EB1D4A207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27002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8EBE86F-4E0A-5E2A-62F6-F3BC6D2E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261499A-1D7C-F3AB-FFD2-7AB3678DB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C51092E-ABAB-E271-FCC5-C8463C3FF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022151F-A5B7-2FAE-44C3-9B4F601F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31451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61663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9988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732191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41297A0-64B2-C32B-BDB1-2ED2F0C3E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01C771B-4F6A-B49F-D14F-5C52A8D90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F6BBE8A5-804D-5AD4-2CCD-6FA5D92DB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CD14B0D-6EAA-0871-7DC2-6707D9452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504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DA517BB-CD10-E522-AE83-296CDB5C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287A617-D345-F278-8069-DA8BA19C6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9935BED-4AC7-DEF2-CF32-1B0EB707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F3C5368-178D-D8BC-DBF7-B3EEEC763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152812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FA88069-F964-4147-64AC-FD304E1F8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7740DBA-9E92-9363-A90D-3F5103A90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D105FA73-295B-2549-9F68-E2E33050A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41DAC74-4955-FD82-FE16-1F107F7B4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00010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A4533FA-5817-26ED-5C8B-CF2BF85C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409B313-FE7A-36D3-D424-7AEFF65E7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CA9916BF-AD38-BC18-DE25-4734B449D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F9B721F-F160-7574-C5D9-D1DB6942F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26523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B3D0B8C-C951-751C-6A7A-8EFEB66D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E2DAEAA-057A-500A-5044-F0C9CDFC7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ADF291C-451F-7A25-F8E8-FD31D375E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D457159-B805-D7B4-277A-06AB86D42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429939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35D47C5-D015-18E0-A1D8-D43DE2BA2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1585969-D8CA-2011-1CFA-CC625A700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61EB771-9827-B5D8-488B-0BF71D34E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3D1F224-7CDA-46F5-E9F5-B5952FAB7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64847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1A9DBE0-C504-48BB-AE42-079B2956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58766B3-8E10-7192-B425-A0A3A87EEB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15A2C4E-B8FF-B459-37FE-504180ECD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1D7AD0E-2C6B-1F33-8274-6DFB0D778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028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B04224-D2AE-6B6A-94C4-1892423B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D48F65-47FB-105D-1DA5-6E907A2A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F60887E-3065-A671-4BA7-9141B154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520E6A7-F3D0-9992-5113-A82B7C15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31630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B04224-D2AE-6B6A-94C4-1892423B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D48F65-47FB-105D-1DA5-6E907A2A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F60887E-3065-A671-4BA7-9141B154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520E6A7-F3D0-9992-5113-A82B7C15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83040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B04224-D2AE-6B6A-94C4-1892423B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D48F65-47FB-105D-1DA5-6E907A2A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F60887E-3065-A671-4BA7-9141B154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520E6A7-F3D0-9992-5113-A82B7C15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840629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B04224-D2AE-6B6A-94C4-1892423B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D48F65-47FB-105D-1DA5-6E907A2A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F60887E-3065-A671-4BA7-9141B154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520E6A7-F3D0-9992-5113-A82B7C15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738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6B04224-D2AE-6B6A-94C4-1892423B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ED48F65-47FB-105D-1DA5-6E907A2AA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F60887E-3065-A671-4BA7-9141B1541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520E6A7-F3D0-9992-5113-A82B7C15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819818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50F6FC4-B1BA-2A4E-A131-8A1ABAAB7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5D4E84C-08CA-B31A-EC05-0347F4462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017C015-589B-437D-9082-36085DEB2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4D98A60-74E5-DCB5-85BA-2FE0FDD62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91002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C66D7A-C927-3BDA-5745-54014B3C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B82305E-B4E8-419D-0392-9AC7E8E7C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B94DDBF-8B6D-A83E-C34F-10E031BB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868E4D7-F06F-9D16-0A63-937440148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29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07273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C66D7A-C927-3BDA-5745-54014B3C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B82305E-B4E8-419D-0392-9AC7E8E7C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B94DDBF-8B6D-A83E-C34F-10E031BB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868E4D7-F06F-9D16-0A63-937440148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322286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C66D7A-C927-3BDA-5745-54014B3C3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9B82305E-B4E8-419D-0392-9AC7E8E7C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B94DDBF-8B6D-A83E-C34F-10E031BB3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868E4D7-F06F-9D16-0A63-937440148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06304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5F6628-AF20-B348-19B1-7DF09E88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CB117CF8-F801-0659-0BDA-4D6AB8679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58826758-5CF3-DE4B-263E-F6E918607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CACA613-4D45-B3F2-0865-962810CC0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58803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88B901-4EA3-3D2C-C31F-B43FF62D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2B00C90-86C7-3FB1-83F2-B6F9C2A21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0E4B981-8D14-5096-55BC-B7EDF23F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D19CDB5-1CD8-9BCF-2D65-6FE1E4F41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428907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DD0D773-ECA4-CDC3-806E-E60D67D2D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1946B79-909B-172B-8E8D-FFEFFE9C6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A2C9762-00E7-831E-AD7D-4EBCDCB68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B568F4-8FFF-B984-A989-FF4D175CE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172053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C6B83BB-0F4E-3220-3EA2-46482ADF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AEF69B9-3DF3-98DC-3E9F-2649A83CB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AA906DFF-17C4-FDF0-44EC-A1C5DEF6A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64BDD19-D6D6-217E-34C5-2255F44B0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334121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9811A80-10AE-4456-9F92-B33FE570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8938CEDC-296E-A987-2507-1C6B11028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66090C4-BCD7-FB3D-492E-02AF4DE76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endParaRPr lang="x-none"/>
          </a:p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89917C4-5FB9-859D-B4EB-88E5D9EC2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549832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39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841159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88408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D62CBE1-A0FC-5995-AD20-B52FB5BA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A1CA9C1-073A-5F03-D659-2D8E29413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DF5DCB9-67AA-6396-1066-8B631F9FA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7E69613-0AFB-08D6-6026-F1E7144B5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367254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FA04735-2146-2214-82DF-CBA32181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2C341027-B64F-18E7-B5A7-C5101CD5D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D243A0C-6FC2-DFD5-A37D-D17300964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68AFEFA-A056-2E21-0061-6A3C014F01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062771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B20DBC-68BC-0E34-7148-89054C774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6B9E305B-0E47-3FAF-6FC7-73A555971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1D86A95F-49A6-A768-769F-EFF177A8D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963420F-6C79-DCA6-F96F-FC1AECB60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501745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56B5E7-B567-0DA8-1FB7-7C7ED04EA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C5152EA-7FE1-2F84-E965-75ED78375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2DC7255-6789-7AD1-F938-9BD5D4374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E197067-2AD8-B45E-7B36-279D930CB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439349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F05E900-08EE-3B07-5004-5798836C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8CEAA3E6-3FCD-1A5A-F53B-4D9C9298F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5BF1B99-5B8C-AC2B-440B-C83431B6B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0832417-CECC-3666-0061-C25842B73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485701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1413025-B1FE-1794-07D9-2EF745D9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85007A2-495F-2775-3224-A51945D1F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B151259-3E22-F51B-6941-E510C5EB3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FBC45CA-55B7-67E8-D2C8-D002327F0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910831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C5704F7-4B21-9524-30DE-6F173F031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D0F6BB2-B13A-B62F-59DB-F87D00BA5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85C5C6D-1B28-BE33-B5FF-5240F4678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263" lvl="0" indent="-268288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en-US" b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B851FAD-6234-FBE5-A04E-61434C69B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729DD5-7D86-A745-A39B-52ACF18C4790}" type="slidenum">
              <a:rPr lang="x-none" smtClean="0"/>
              <a:t>47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5128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B55B68-5E05-F3EB-7E8D-26C837AF7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F6A17E7-F330-B207-DDEB-3EF4B6109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FD21ACF-E1B5-AFAA-7055-4D6C138E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7141-0563-434F-9EF1-852D65CFAEDD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2DA613-532D-A8C9-0277-1932BCC9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BD6D684-1D13-2A6E-F59F-756DFD2E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5121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EB547E-C0D9-6F9D-4477-FC438504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18467A1-E0FE-B7E0-B875-CBF952CE2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85F6EC1-737A-9258-95D3-9ACC85D8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4877B1-D855-FC7F-0F91-9132FEEC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8268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E38360-29B0-E4B4-6A14-3A77AF1C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EC9DEAB-2A60-591D-656D-3D45C2024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5611E0D-3800-BFE4-2A72-31C91198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9627E-A4F6-9044-9382-9A3FEB68C932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0154EE-15DF-2A6C-2BFD-F06CB981D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688A48-4EDD-688C-9BEA-FFE2AFD0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5860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FF33F7-1197-3719-0B81-FE9E8321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80C513-1CE3-AAA8-3941-34C33CB05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19443F9F-95A0-E254-E8CC-627451E9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721C897-9B2A-7215-D554-253B1BA26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FA34-9AD6-3E40-8856-FA8DCB1E04DD}" type="datetime1">
              <a:rPr lang="en-US" smtClean="0"/>
              <a:t>10/21/2025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A8FB169-21E1-5D32-8AA9-3D6B75E2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DCE5873-DF11-5C2F-5B7C-722612ED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67652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E5D7BE-6715-F950-383D-E9E01913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2798C97-AFF5-743A-D9C6-F3E0E8548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B91E37B-99AB-0CFA-D703-07A38730D5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CA967C4F-EC5E-DDB6-05F2-771252ECC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938E697-C64B-AB56-439F-0E0DF00DE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41CCD0E-BAD3-FBBA-A0F2-22AF89F6B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87EA0-5966-7F4A-B5AA-A44E3885A250}" type="datetime1">
              <a:rPr lang="en-US" smtClean="0"/>
              <a:t>10/21/2025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C523237-35C6-4D59-2F1A-B98F63A76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5E41585-171E-9686-365B-01E091C7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56903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0A6CFC-4AEA-DA74-E9FC-FAAF74B9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037FC6-DC68-5284-F8B1-2CD102FE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39A2-A4E4-B042-A38E-57077A4F095E}" type="datetime1">
              <a:rPr lang="en-US" smtClean="0"/>
              <a:t>10/21/2025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8E424DE-409F-9A6A-EEEC-59B9C850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DF1D43F-9032-1032-A8A8-BBB30C35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2442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1F2312C-ECCF-5F71-2AB2-C68D378C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F0996-9061-2E49-B78D-018A8DE04C00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9D2EEA5-10F1-5842-3D33-4D942B56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23BF4DC-043A-A7EF-2892-D57699D5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889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054339-AFA6-6BD1-BED0-E7DB848F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FE6B8A-EC4A-0043-3E31-E96AD5DA0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FA95A84-25CD-7D46-7868-85F55A353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9FD9243-C6CB-9BC3-67D3-B020503D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FA2B-27B0-9B43-AADD-4AF746C3E857}" type="datetime1">
              <a:rPr lang="en-US" smtClean="0"/>
              <a:t>10/21/2025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83A4658-0914-BD94-890B-6AD60E0E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9D02A91-8200-1F7E-D698-8B003BADF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5333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FC6585-8556-0D64-8C17-08C567CC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F142BC9A-E0D9-ABEC-FE61-0843953B4A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81E1977-4EE7-58E9-E40B-DFB5735E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C8A11F0-ABB7-00BB-C8EF-9B1F7C4F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3B2EB-FFFD-4048-9731-4A1A0BF4C329}" type="datetime1">
              <a:rPr lang="en-US" smtClean="0"/>
              <a:t>10/21/2025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120913E-99D7-A887-A365-113B110E9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8D7DFDE-FC1E-9993-8AEB-496B1AC05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9903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19069C-C6BA-A7D7-5BCC-566EA926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5E00CD7-2F00-9A3A-C12B-71E81E49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2349AED-BE54-87EC-84E5-11555D69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4D4DE-5E18-0D47-A1A0-DAA69F2DA1F5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13620D7-7E39-627D-6375-1F9D2B62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FE7531F-FB2A-D2C0-682C-B07A34B3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2241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B7B1A08-E261-8E96-0506-12EEF04357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50FCE06-FDFA-242B-C536-368123A6F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7DA4A5-1F83-06A5-3CA6-369441168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B79A4-2D32-6946-BEB4-A62C071A47B6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6A4D7C-988E-F473-7052-32E8B068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F7F3EB9-BF8B-A0EE-D8E8-E7FC1855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65013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02AF78A-EECF-5E37-CE06-921C961AD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0C0A444-7159-D21B-BE05-96AF77BD3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FFFD487-665B-3F9B-A95C-1AF44BB2A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8A1FB-997D-D64F-9EE3-168567971971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F0EC3B-DDCB-5305-B540-2B3BA5F83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5061B2-61D6-8F88-8486-B01C98AAE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F5734-750F-6F44-80C1-1680C223949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5157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aikt.github.io/sw_task/index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ibuv.org/en/v1.x/guide/threads.html#id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isesaplus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2/timer_create.2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15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08A48A88-95D2-AED4-021E-709267D5BCC7}"/>
              </a:ext>
            </a:extLst>
          </p:cNvPr>
          <p:cNvSpPr txBox="1"/>
          <p:nvPr/>
        </p:nvSpPr>
        <p:spPr>
          <a:xfrm>
            <a:off x="2821484" y="2453675"/>
            <a:ext cx="65490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Event Loop Framework for Modern C++ Applications</a:t>
            </a:r>
            <a:endParaRPr lang="en-US" sz="2800" dirty="0"/>
          </a:p>
        </p:txBody>
      </p:sp>
      <p:sp>
        <p:nvSpPr>
          <p:cNvPr id="6" name="Text Box 3">
            <a:extLst>
              <a:ext uri="{FF2B5EF4-FFF2-40B4-BE49-F238E27FC236}">
                <a16:creationId xmlns="" xmlns:a16="http://schemas.microsoft.com/office/drawing/2014/main" id="{CB16AF12-A55A-97B4-9DA4-CE165FC0F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472" y="5307385"/>
            <a:ext cx="79509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26/9/2025</a:t>
            </a:r>
            <a:endParaRPr lang="ko-KR" altLang="en-US" sz="1400" dirty="0">
              <a:solidFill>
                <a:srgbClr val="000000"/>
              </a:solidFill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="" xmlns:a16="http://schemas.microsoft.com/office/drawing/2014/main" id="{E7750603-E5FA-9F07-E289-DEF2F9B24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897" y="5696327"/>
            <a:ext cx="438427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marL="230188" indent="-230188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200" b="1">
                <a:solidFill>
                  <a:schemeClr val="tx1"/>
                </a:solidFill>
                <a:latin typeface="Arial" charset="0"/>
                <a:ea typeface="Dotum" pitchFamily="50" charset="-127"/>
                <a:sym typeface="Wingdings" pitchFamily="2" charset="2"/>
              </a:defRPr>
            </a:lvl9pPr>
          </a:lstStyle>
          <a:p>
            <a:pPr algn="ctr" eaLnBrk="1" hangingPunct="1"/>
            <a: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Tran Anh Tai - Software Engineering Team – LGEDV</a:t>
            </a:r>
            <a:br>
              <a:rPr lang="en-US" altLang="ko-KR" sz="1400" dirty="0">
                <a:solidFill>
                  <a:srgbClr val="000000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100" b="0" dirty="0">
                <a:solidFill>
                  <a:srgbClr val="000000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2023 - 2024: BMW ICON SW architect</a:t>
            </a:r>
          </a:p>
          <a:p>
            <a:pPr algn="ctr" eaLnBrk="1" hangingPunct="1"/>
            <a:r>
              <a:rPr lang="en-US" altLang="ko-KR" sz="1100" b="0" dirty="0">
                <a:solidFill>
                  <a:srgbClr val="000000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 2024 - Present: Honda SW architect</a:t>
            </a:r>
            <a:endParaRPr lang="ko-KR" altLang="en-US" sz="1100" b="0" dirty="0">
              <a:solidFill>
                <a:srgbClr val="000000"/>
              </a:solidFill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0FC24D0-2366-35DB-314D-2821C61BE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2D366-9655-D84B-B77B-79E88E175CB2}" type="datetime1">
              <a:rPr lang="en-US" smtClean="0"/>
              <a:t>10/21/2025</a:t>
            </a:fld>
            <a:endParaRPr lang="x-none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54287FE-9559-FCE7-2EE9-3EA9AD8D7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1</a:t>
            </a:fld>
            <a:endParaRPr lang="x-none"/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E690E08F-4346-FB19-6350-D6D35A592CF7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10" name="Line 2"/>
          <p:cNvCxnSpPr>
            <a:cxnSpLocks noChangeShapeType="1"/>
          </p:cNvCxnSpPr>
          <p:nvPr/>
        </p:nvCxnSpPr>
        <p:spPr bwMode="auto">
          <a:xfrm flipH="1" flipV="1">
            <a:off x="2875836" y="2270279"/>
            <a:ext cx="6440353" cy="40309"/>
          </a:xfrm>
          <a:prstGeom prst="line">
            <a:avLst/>
          </a:prstGeom>
          <a:noFill/>
          <a:ln w="127000">
            <a:solidFill>
              <a:srgbClr val="D6005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Line 3"/>
          <p:cNvCxnSpPr>
            <a:cxnSpLocks noChangeShapeType="1"/>
          </p:cNvCxnSpPr>
          <p:nvPr/>
        </p:nvCxnSpPr>
        <p:spPr bwMode="auto">
          <a:xfrm flipH="1" flipV="1">
            <a:off x="2875837" y="3869162"/>
            <a:ext cx="6440352" cy="11157"/>
          </a:xfrm>
          <a:prstGeom prst="line">
            <a:avLst/>
          </a:prstGeom>
          <a:noFill/>
          <a:ln w="127000">
            <a:solidFill>
              <a:srgbClr val="C0C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1"/>
          <p:cNvSpPr/>
          <p:nvPr/>
        </p:nvSpPr>
        <p:spPr>
          <a:xfrm>
            <a:off x="4661452" y="4053817"/>
            <a:ext cx="28691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ea typeface="Gulim"/>
              </a:rPr>
              <a:t>SW Architectural Design</a:t>
            </a:r>
            <a:endParaRPr lang="en-US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880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B137C1-2D8C-F1B9-A9D7-36CC7D46AD1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60E4AA8-6D35-FA4B-B26B-8ACCED751F8A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7D465E5-DE39-9C97-6CA5-39B1EC8E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2</a:t>
            </a:fld>
            <a:endParaRPr lang="x-none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A75E75C-8ECD-E8A6-44C9-D298ABCE38EC}"/>
              </a:ext>
            </a:extLst>
          </p:cNvPr>
          <p:cNvSpPr txBox="1"/>
          <p:nvPr/>
        </p:nvSpPr>
        <p:spPr>
          <a:xfrm>
            <a:off x="1652294" y="614420"/>
            <a:ext cx="5220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Agenda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7" name="텍스트 개체 틀 3">
            <a:extLst>
              <a:ext uri="{FF2B5EF4-FFF2-40B4-BE49-F238E27FC236}">
                <a16:creationId xmlns="" xmlns:a16="http://schemas.microsoft.com/office/drawing/2014/main" id="{F3565576-2823-0234-4FAA-28A0461B9504}"/>
              </a:ext>
            </a:extLst>
          </p:cNvPr>
          <p:cNvSpPr txBox="1">
            <a:spLocks/>
          </p:cNvSpPr>
          <p:nvPr/>
        </p:nvSpPr>
        <p:spPr>
          <a:xfrm>
            <a:off x="1652294" y="1543523"/>
            <a:ext cx="3858211" cy="41014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Project Overview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Project Context</a:t>
            </a:r>
          </a:p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Architecture Drivers</a:t>
            </a:r>
          </a:p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Architecture Representation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Architecture Decision Rationale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ko-KR" sz="18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Validation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Conclusion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EA014A94-2F6A-90C9-35CB-01B9B8482A2C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40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D12A77-ACC0-88FA-CBF8-21FA89D6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>
            <a:normAutofit fontScale="90000"/>
          </a:bodyPr>
          <a:lstStyle/>
          <a:p>
            <a:r>
              <a:rPr kumimoji="1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1. Project Overview</a:t>
            </a:r>
            <a:r>
              <a:rPr kumimoji="1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LG Smart UI SemiBold" panose="020B0700000101010101" pitchFamily="50" charset="-127"/>
                <a:cs typeface="+mn-cs"/>
              </a:rPr>
              <a:t/>
            </a:r>
            <a:br>
              <a:rPr kumimoji="1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LG Smart UI SemiBold" panose="020B0700000101010101" pitchFamily="50" charset="-127"/>
                <a:cs typeface="+mn-cs"/>
              </a:rPr>
            </a:b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8A58353-B76D-2D2D-2B59-77F8619C3E5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3B7E359-F277-275B-0318-CEA36B30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3</a:t>
            </a:fld>
            <a:endParaRPr lang="x-none"/>
          </a:p>
        </p:txBody>
      </p:sp>
      <p:sp>
        <p:nvSpPr>
          <p:cNvPr id="6" name="텍스트 개체 틀 3">
            <a:extLst>
              <a:ext uri="{FF2B5EF4-FFF2-40B4-BE49-F238E27FC236}">
                <a16:creationId xmlns="" xmlns:a16="http://schemas.microsoft.com/office/drawing/2014/main" id="{3D5EA90C-B7C2-6192-8E76-268D2FC73076}"/>
              </a:ext>
            </a:extLst>
          </p:cNvPr>
          <p:cNvSpPr txBox="1">
            <a:spLocks/>
          </p:cNvSpPr>
          <p:nvPr/>
        </p:nvSpPr>
        <p:spPr>
          <a:xfrm>
            <a:off x="6698128" y="1005290"/>
            <a:ext cx="4824536" cy="62924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LGE Telematics projects for Honda, BMW, Toyota, and GM leverage the LGE Tiger platform</a:t>
            </a:r>
          </a:p>
          <a:p>
            <a:pPr marL="357187" lvl="1" indent="-17145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en-US" sz="1000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provides reusable, reliable, and robust services in the Telematics domain.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Tiger platform uses Tiger Looper as its core event loop mechanism to manage tasks for applications and services.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This project aims to enhance event loop architecture of Tiger platform.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This project proposes SW Task Framework – an event loop framework designed to deliver significant performance improvements while maintaining backward compatibility.</a:t>
            </a:r>
            <a:b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 Task Framework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 high-performance C++ library for asynchronous event handling, timer management.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Use for a wide range of applications</a:t>
            </a:r>
          </a:p>
          <a:p>
            <a:pPr marL="357187" lvl="1" indent="-17145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  <a:defRPr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000" b="0" dirty="0">
                <a:latin typeface="Arial" panose="020B0604020202020204" pitchFamily="34" charset="0"/>
                <a:cs typeface="Arial" panose="020B0604020202020204" pitchFamily="34" charset="0"/>
              </a:rPr>
              <a:t>ncluding automotive embedded systems, IoT devices, desktop and UI applications, real-time data processing, robotics, and backend services.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Homepage: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https://taikt.github.io/sw_task/index.html</a:t>
            </a:r>
            <a:endParaRPr lang="en-US" b="0" dirty="0">
              <a:solidFill>
                <a:schemeClr val="tx1"/>
              </a:solidFill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57200" indent="-17462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sz="1400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57200" indent="-174625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1" indent="0">
              <a:lnSpc>
                <a:spcPct val="120000"/>
              </a:lnSpc>
              <a:spcBef>
                <a:spcPct val="50000"/>
              </a:spcBef>
              <a:defRPr/>
            </a:pPr>
            <a:endParaRPr lang="en-US" sz="19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5A16B166-7AEE-44F2-BE31-9EC1E8A70FF3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EBE2AF0-B0B5-59E4-95EA-BEA90BF09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44" y="1036022"/>
            <a:ext cx="5031237" cy="47859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CEABC37-D5CA-16DE-F261-15C520CDCC0B}"/>
              </a:ext>
            </a:extLst>
          </p:cNvPr>
          <p:cNvSpPr txBox="1"/>
          <p:nvPr/>
        </p:nvSpPr>
        <p:spPr>
          <a:xfrm>
            <a:off x="1539669" y="5966053"/>
            <a:ext cx="1598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1: Telematics system</a:t>
            </a:r>
          </a:p>
        </p:txBody>
      </p:sp>
    </p:spTree>
    <p:extLst>
      <p:ext uri="{BB962C8B-B14F-4D97-AF65-F5344CB8AC3E}">
        <p14:creationId xmlns:p14="http://schemas.microsoft.com/office/powerpoint/2010/main" val="337080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51E9F9-BEBD-577F-34FA-ADB154D29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09669"/>
            <a:ext cx="10515600" cy="589032"/>
          </a:xfrm>
        </p:spPr>
        <p:txBody>
          <a:bodyPr>
            <a:normAutofit fontScale="90000"/>
          </a:bodyPr>
          <a:lstStyle/>
          <a:p>
            <a:r>
              <a:rPr kumimoji="1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2. Project Context </a:t>
            </a:r>
            <a: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kumimoji="1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x-non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617FDCD-DE07-7435-B9F4-718742774A2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D807FC8-D3AC-AACC-7391-24949637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4</a:t>
            </a:fld>
            <a:endParaRPr lang="x-none"/>
          </a:p>
        </p:txBody>
      </p:sp>
      <p:sp>
        <p:nvSpPr>
          <p:cNvPr id="6" name="텍스트 개체 틀 3">
            <a:extLst>
              <a:ext uri="{FF2B5EF4-FFF2-40B4-BE49-F238E27FC236}">
                <a16:creationId xmlns="" xmlns:a16="http://schemas.microsoft.com/office/drawing/2014/main" id="{6A5E1AC0-F29A-2479-EBAC-245113042FC9}"/>
              </a:ext>
            </a:extLst>
          </p:cNvPr>
          <p:cNvSpPr txBox="1">
            <a:spLocks/>
          </p:cNvSpPr>
          <p:nvPr/>
        </p:nvSpPr>
        <p:spPr>
          <a:xfrm>
            <a:off x="438485" y="672117"/>
            <a:ext cx="11418155" cy="5170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System Context Diagram</a:t>
            </a: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sz="14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="" xmlns:a16="http://schemas.microsoft.com/office/drawing/2014/main" id="{3C31B1D0-E86C-D49A-8622-4819921EB882}"/>
              </a:ext>
            </a:extLst>
          </p:cNvPr>
          <p:cNvSpPr txBox="1">
            <a:spLocks/>
          </p:cNvSpPr>
          <p:nvPr/>
        </p:nvSpPr>
        <p:spPr>
          <a:xfrm>
            <a:off x="8832304" y="719794"/>
            <a:ext cx="3024336" cy="32201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Ø"/>
              <a:defRPr/>
            </a:pPr>
            <a:r>
              <a:rPr lang="en-US" altLang="ko-KR" sz="1400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NAD SoC: include applications and services developed by LGE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Ø"/>
              <a:defRPr/>
            </a:pPr>
            <a:r>
              <a:rPr lang="en-US" altLang="ko-KR" sz="1400" b="0" dirty="0">
                <a:solidFill>
                  <a:schemeClr val="tx1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SW Task framework: 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12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A high-performance, modern C++ event loop framework designed to compare Tiger Looper with superior architecture and developer experience.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12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Serves as the foundational event/task management layer for Tiger platform services</a:t>
            </a: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400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73009833-FABA-3E2D-E634-C04C3932BB3F}"/>
              </a:ext>
            </a:extLst>
          </p:cNvPr>
          <p:cNvSpPr/>
          <p:nvPr/>
        </p:nvSpPr>
        <p:spPr>
          <a:xfrm>
            <a:off x="6378814" y="88576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82" y="1005256"/>
            <a:ext cx="6468004" cy="5060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DB19766-723C-AFA0-B832-5D9A619FD919}"/>
              </a:ext>
            </a:extLst>
          </p:cNvPr>
          <p:cNvSpPr txBox="1"/>
          <p:nvPr/>
        </p:nvSpPr>
        <p:spPr>
          <a:xfrm>
            <a:off x="2874805" y="6185883"/>
            <a:ext cx="19591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2: System 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35204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620A5A-EEA5-AB4B-7B46-109A30024AC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B339E95-14DF-88A7-CFAA-E69C4F21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5</a:t>
            </a:fld>
            <a:endParaRPr lang="x-none"/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F913EF47-5F03-A88A-3039-840B39FD1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86729"/>
              </p:ext>
            </p:extLst>
          </p:nvPr>
        </p:nvGraphicFramePr>
        <p:xfrm>
          <a:off x="695400" y="1052736"/>
          <a:ext cx="8568952" cy="30866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1435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7677517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Req.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ID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FR-01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Event Loop Management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provide event loop functionality to process </a:t>
                      </a:r>
                      <a:b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messages, functions, and timers in unified manner.</a:t>
                      </a:r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FR-02</a:t>
                      </a:r>
                    </a:p>
                    <a:p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Message Processing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support Android-style message handling with Handler pattern for backward compatibility as</a:t>
                      </a:r>
                      <a:r>
                        <a:rPr lang="en-US" sz="1200" b="0" i="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currently used in Tiger Looper.</a:t>
                      </a:r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3058877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FR-03</a:t>
                      </a:r>
                    </a:p>
                    <a:p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Function Execution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execute C++ lambda functions and std::function objects asynchronously on appropriate threads.</a:t>
                      </a:r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3877356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FR-04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Promise Chain Operations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support Promise creation, chaining, and exception propagation for async workflows (following design of JavaScript Promise A+ standard)</a:t>
                      </a:r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 FR-05</a:t>
                      </a: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Timer Management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create, schedule, and cancel timers with millisecond precision using efficient kernel mechanisms</a:t>
                      </a:r>
                      <a:endParaRPr kumimoji="1" lang="en-US" sz="12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 FR-06</a:t>
                      </a: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Error Handling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Framework shall propagate exceptions through promise chains and provide error callbacks for async operations (following design of JavaScript Promise A+ standard).</a:t>
                      </a: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 FR-07</a:t>
                      </a: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Framework shall support </a:t>
                      </a:r>
                      <a:r>
                        <a:rPr kumimoji="1" lang="en-US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Coroutines C++20 </a:t>
                      </a:r>
                      <a:r>
                        <a:rPr kumimoji="1" lang="en-US" sz="12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asynchronous feature.</a:t>
                      </a:r>
                    </a:p>
                  </a:txBody>
                  <a:tcPr marL="16482" marR="16482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0575024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6664300-94CB-0BA8-155A-E9C3B61C3EF0}"/>
              </a:ext>
            </a:extLst>
          </p:cNvPr>
          <p:cNvSpPr txBox="1"/>
          <p:nvPr/>
        </p:nvSpPr>
        <p:spPr>
          <a:xfrm>
            <a:off x="335360" y="98395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3. Architectural Drivers</a:t>
            </a:r>
          </a:p>
        </p:txBody>
      </p:sp>
      <p:sp>
        <p:nvSpPr>
          <p:cNvPr id="8" name="텍스트 개체 틀 3">
            <a:extLst>
              <a:ext uri="{FF2B5EF4-FFF2-40B4-BE49-F238E27FC236}">
                <a16:creationId xmlns="" xmlns:a16="http://schemas.microsoft.com/office/drawing/2014/main" id="{0C25BF29-AB79-7AB2-4B11-674269EA1229}"/>
              </a:ext>
            </a:extLst>
          </p:cNvPr>
          <p:cNvSpPr txBox="1">
            <a:spLocks/>
          </p:cNvSpPr>
          <p:nvPr/>
        </p:nvSpPr>
        <p:spPr>
          <a:xfrm>
            <a:off x="438485" y="672117"/>
            <a:ext cx="11418155" cy="2585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High-level Functional Requirement</a:t>
            </a:r>
            <a:endParaRPr lang="en-US" altLang="ko-KR" sz="140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694DA882-CD57-1B50-6683-2441E66585F9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76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904E79-BD21-3A6B-AEEB-F112C7EFDCB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0E2726E-3D5A-FBE8-A1B5-B6A64CFDD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6</a:t>
            </a:fld>
            <a:endParaRPr lang="x-none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9579AF2-EBE8-1168-C07D-186ABAECD71A}"/>
              </a:ext>
            </a:extLst>
          </p:cNvPr>
          <p:cNvSpPr txBox="1"/>
          <p:nvPr/>
        </p:nvSpPr>
        <p:spPr>
          <a:xfrm>
            <a:off x="335360" y="98395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3. Architectural Drivers</a:t>
            </a:r>
          </a:p>
        </p:txBody>
      </p:sp>
      <p:graphicFrame>
        <p:nvGraphicFramePr>
          <p:cNvPr id="11" name="표 1">
            <a:extLst>
              <a:ext uri="{FF2B5EF4-FFF2-40B4-BE49-F238E27FC236}">
                <a16:creationId xmlns="" xmlns:a16="http://schemas.microsoft.com/office/drawing/2014/main" id="{CBA3C5BE-2FF3-6D85-367A-727544B31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75412"/>
              </p:ext>
            </p:extLst>
          </p:nvPr>
        </p:nvGraphicFramePr>
        <p:xfrm>
          <a:off x="725802" y="1081087"/>
          <a:ext cx="10789820" cy="2468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8840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5685509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1343422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  <a:gridCol w="1047088">
                  <a:extLst>
                    <a:ext uri="{9D8B030D-6E8A-4147-A177-3AD203B41FA5}">
                      <a16:colId xmlns="" xmlns:a16="http://schemas.microsoft.com/office/drawing/2014/main" val="1474848662"/>
                    </a:ext>
                  </a:extLst>
                </a:gridCol>
                <a:gridCol w="1018045">
                  <a:extLst>
                    <a:ext uri="{9D8B030D-6E8A-4147-A177-3AD203B41FA5}">
                      <a16:colId xmlns="" xmlns:a16="http://schemas.microsoft.com/office/drawing/2014/main" val="129830481"/>
                    </a:ext>
                  </a:extLst>
                </a:gridCol>
                <a:gridCol w="716916">
                  <a:extLst>
                    <a:ext uri="{9D8B030D-6E8A-4147-A177-3AD203B41FA5}">
                      <a16:colId xmlns="" xmlns:a16="http://schemas.microsoft.com/office/drawing/2014/main" val="1210504044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Req.</a:t>
                      </a:r>
                      <a:r>
                        <a:rPr lang="en-US" sz="1200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ID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Attribute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Business</a:t>
                      </a:r>
                    </a:p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importance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Difficulty</a:t>
                      </a:r>
                      <a:b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(Technical)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  <a:p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Performance</a:t>
                      </a:r>
                      <a:r>
                        <a:rPr lang="x-none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Efficiency</a:t>
                      </a:r>
                      <a:r>
                        <a:rPr lang="x-none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QA-03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Useability</a:t>
                      </a:r>
                      <a:r>
                        <a:rPr lang="x-none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QA-04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should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provide b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ackward compatible API enhancement</a:t>
                      </a:r>
                      <a:r>
                        <a:rPr lang="en-US" sz="1200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 Tiger Looper. Legacy client source code using Tiger Looper should not be impacted when using new framework.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Reusability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H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2408335"/>
                  </a:ext>
                </a:extLst>
              </a:tr>
            </a:tbl>
          </a:graphicData>
        </a:graphic>
      </p:graphicFrame>
      <p:sp>
        <p:nvSpPr>
          <p:cNvPr id="14" name="직사각형 2">
            <a:extLst>
              <a:ext uri="{FF2B5EF4-FFF2-40B4-BE49-F238E27FC236}">
                <a16:creationId xmlns="" xmlns:a16="http://schemas.microsoft.com/office/drawing/2014/main" id="{BD9A4C8B-6BA5-DEF5-FCBB-2AB8C812D2AC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69551" y="3773799"/>
            <a:ext cx="3146071" cy="62814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23052" y="3763031"/>
            <a:ext cx="5950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Legend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6018" y="3993863"/>
            <a:ext cx="3012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dk1"/>
                </a:solidFill>
                <a:latin typeface="Arial" panose="020B0604020202020204" pitchFamily="34" charset="0"/>
              </a:rPr>
              <a:t>*Priority(1-5): the lower the value, the higher the priority</a:t>
            </a:r>
            <a:br>
              <a:rPr lang="en-US" sz="900" dirty="0">
                <a:solidFill>
                  <a:schemeClr val="dk1"/>
                </a:solidFill>
                <a:latin typeface="Arial" panose="020B0604020202020204" pitchFamily="34" charset="0"/>
              </a:rPr>
            </a:br>
            <a:r>
              <a:rPr lang="en-US" sz="900" dirty="0">
                <a:solidFill>
                  <a:schemeClr val="dk1"/>
                </a:solidFill>
                <a:latin typeface="Arial" panose="020B0604020202020204" pitchFamily="34" charset="0"/>
              </a:rPr>
              <a:t>*H: High, M: Medium.</a:t>
            </a:r>
          </a:p>
          <a:p>
            <a:endParaRPr 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="" xmlns:a16="http://schemas.microsoft.com/office/drawing/2014/main" id="{0C25BF29-AB79-7AB2-4B11-674269EA1229}"/>
              </a:ext>
            </a:extLst>
          </p:cNvPr>
          <p:cNvSpPr txBox="1">
            <a:spLocks/>
          </p:cNvSpPr>
          <p:nvPr/>
        </p:nvSpPr>
        <p:spPr>
          <a:xfrm>
            <a:off x="438485" y="672117"/>
            <a:ext cx="11418155" cy="2585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defRPr/>
            </a:pPr>
            <a:r>
              <a:rPr kumimoji="1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Quality Attribute</a:t>
            </a:r>
            <a:endParaRPr lang="en-US" altLang="ko-KR" sz="140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33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CA7F85-B2BB-A1A8-4252-B9D8F36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29373" y="6476557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7</a:t>
            </a:fld>
            <a:endParaRPr lang="x-none"/>
          </a:p>
        </p:txBody>
      </p:sp>
      <p:sp>
        <p:nvSpPr>
          <p:cNvPr id="2" name="텍스트 개체 틀 3">
            <a:extLst>
              <a:ext uri="{FF2B5EF4-FFF2-40B4-BE49-F238E27FC236}">
                <a16:creationId xmlns="" xmlns:a16="http://schemas.microsoft.com/office/drawing/2014/main" id="{BEEAF762-9F9D-A359-A3A6-D0D0A9D02EFF}"/>
              </a:ext>
            </a:extLst>
          </p:cNvPr>
          <p:cNvSpPr txBox="1">
            <a:spLocks/>
          </p:cNvSpPr>
          <p:nvPr/>
        </p:nvSpPr>
        <p:spPr>
          <a:xfrm>
            <a:off x="438485" y="501078"/>
            <a:ext cx="11418155" cy="2585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Static View of SW Task Framework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203BE35-39D5-00D7-B54B-322E79F74A56}"/>
              </a:ext>
            </a:extLst>
          </p:cNvPr>
          <p:cNvSpPr txBox="1"/>
          <p:nvPr/>
        </p:nvSpPr>
        <p:spPr>
          <a:xfrm>
            <a:off x="75270" y="93497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4.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Architectural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Representation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5703C7DA-6BD0-604E-6939-B4EC5EB81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962628"/>
              </p:ext>
            </p:extLst>
          </p:nvPr>
        </p:nvGraphicFramePr>
        <p:xfrm>
          <a:off x="120957" y="759610"/>
          <a:ext cx="5669266" cy="5791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35633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3122165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1011468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</a:tblGrid>
              <a:tr h="25154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Component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SRS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622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SLLooper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Facade for unified event loop, handles function/message/timer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FR-01, FR-02,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1463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EventQueue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Thread-safe queue for messages and functions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FR-02, QA-03</a:t>
                      </a:r>
                    </a:p>
                    <a:p>
                      <a:pPr algn="l"/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363347"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QueueItem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Abstract base class for all queueable event items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FR-01, QA-03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12349175"/>
                  </a:ext>
                </a:extLst>
              </a:tr>
              <a:tr h="332237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Handler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Android-style message handler for backward compatibility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FR-02, QA-04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24425724"/>
                  </a:ext>
                </a:extLst>
              </a:tr>
              <a:tr h="308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TimerManager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Manages timers, schedules/cancels with millisecond precision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FR-05, QA-02</a:t>
                      </a:r>
                    </a:p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  <a:tr h="3241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CPUTaskThread</a:t>
                      </a: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endParaRPr lang="en-US" sz="100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Thread for executing heavy tasks asynchronously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FR-03,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1607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Promise</a:t>
                      </a:r>
                    </a:p>
                    <a:p>
                      <a:endParaRPr lang="en-US" sz="1000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Template for async result, supports chaining and error propagation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FR-04, FR-06,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72638671"/>
                  </a:ext>
                </a:extLst>
              </a:tr>
              <a:tr h="3383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State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Template for state management and cross-thread coordination</a:t>
                      </a:r>
                    </a:p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FR-04, FR-06, QA-01 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97904"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C++20 coroutine wrapper for async task lifecycle management with start/done/get operations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FR-07, QA-01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8424766"/>
                  </a:ext>
                </a:extLst>
              </a:tr>
              <a:tr h="297904"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DelayAwaitable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Awaitable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object for non-blocking coroutine suspension with timer-based delays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FR-07,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53821564"/>
                  </a:ext>
                </a:extLst>
              </a:tr>
              <a:tr h="297904"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PostAwaitable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Awaitable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object for executing functions on main event loop thread with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co_await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FR-07,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5170834"/>
                  </a:ext>
                </a:extLst>
              </a:tr>
              <a:tr h="310517"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WorkAwaitable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Awaitable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object for executing CPU-bound functions on background thread with </a:t>
                      </a:r>
                      <a:r>
                        <a:rPr lang="en-US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co_await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FR-07, QA-01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55585684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436" y="4616025"/>
            <a:ext cx="1324204" cy="602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B0DC94F-8017-4A24-7F98-C8206833B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001" y="0"/>
            <a:ext cx="5790682" cy="43113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08EAC3C7-68BE-D34E-495B-F00A6AF546A6}"/>
              </a:ext>
            </a:extLst>
          </p:cNvPr>
          <p:cNvSpPr txBox="1"/>
          <p:nvPr/>
        </p:nvSpPr>
        <p:spPr>
          <a:xfrm>
            <a:off x="7828272" y="5350020"/>
            <a:ext cx="2621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3: Module view for SW Task framework</a:t>
            </a:r>
          </a:p>
        </p:txBody>
      </p:sp>
    </p:spTree>
    <p:extLst>
      <p:ext uri="{BB962C8B-B14F-4D97-AF65-F5344CB8AC3E}">
        <p14:creationId xmlns:p14="http://schemas.microsoft.com/office/powerpoint/2010/main" val="175327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8F6B7A6-0F11-F877-047E-B5C272858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5B66DC-29F4-EA01-22BD-6133920F9E8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EC2C612-8EBA-A28F-4D9A-574882DD7D02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5.1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90E7C8DE-9F4C-BCDE-C42F-4E6192D69155}"/>
              </a:ext>
            </a:extLst>
          </p:cNvPr>
          <p:cNvSpPr txBox="1">
            <a:spLocks/>
          </p:cNvSpPr>
          <p:nvPr/>
        </p:nvSpPr>
        <p:spPr>
          <a:xfrm>
            <a:off x="183558" y="590908"/>
            <a:ext cx="4297412" cy="1242718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 (Tiger Looper)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Event Thread Architecture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Tiger Looper is a C++ library for event loop, which is based on Android-style handling (message, handler, looper).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Client application creates message using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obtainMessage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(), send it to event loop using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sendMessage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The event loop run on a separate event loop thread and handle messages in message queue asynchronously using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dispatchMessage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The dedicated event loop thread prevents blocking of the main application thread when processing multiple events.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Current issue of Tiger looper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Only support C++ 11 standard, lack support of high-performance modern C++ stands (C++ 14/17/20)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Tiger Looper uses single event thread architecture.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All operations processed sequentially on one thread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Event loop blocks on CPU-bound tasks (heavy task)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No parallelism possible, cannot utilize multiple CPU cores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CPU-bound tasks freeze the system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Sequential bottleneck under load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Tiger Looper's single-threaded design fundamentally limits performance and client application experience.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C718DA60-BB90-D9A8-1ADC-8A7F19E0AC2D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8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40513D3F-7450-3E3E-B7C0-CE6E58081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796104"/>
              </p:ext>
            </p:extLst>
          </p:nvPr>
        </p:nvGraphicFramePr>
        <p:xfrm>
          <a:off x="6014721" y="137927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142" y="633494"/>
            <a:ext cx="4166300" cy="44299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79" y="5063484"/>
            <a:ext cx="1220968" cy="7211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A1E0BC2-BB7A-7E6F-A532-437DE1E34AB4}"/>
              </a:ext>
            </a:extLst>
          </p:cNvPr>
          <p:cNvSpPr txBox="1"/>
          <p:nvPr/>
        </p:nvSpPr>
        <p:spPr>
          <a:xfrm>
            <a:off x="8293965" y="5613682"/>
            <a:ext cx="19591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4: System 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3034928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8DDF4D2-1634-FEC3-F6FA-5DC0ADD9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D4A7AD-49AB-40E0-BBA9-176AA8908D8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3DAD3CF-4A86-A88C-C5EE-1254C8446EDE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E58D85AC-214B-80B1-FD8A-7555192F11E0}"/>
              </a:ext>
            </a:extLst>
          </p:cNvPr>
          <p:cNvSpPr txBox="1">
            <a:spLocks/>
          </p:cNvSpPr>
          <p:nvPr/>
        </p:nvSpPr>
        <p:spPr>
          <a:xfrm>
            <a:off x="71022" y="457967"/>
            <a:ext cx="8306061" cy="729962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To meet QA-01: </a:t>
            </a:r>
            <a:r>
              <a:rPr lang="en-US" sz="1400" b="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must handle high-frequency events with response time under 1 sec (Performance).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SW Task framework use two strategies: 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Strategy 1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Use advanced Multi-Thread architecture for different workloads 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Clarify and handle task/events based on type of task/event load (light/normal/heavy)</a:t>
            </a:r>
            <a:r>
              <a:rPr lang="en-US" sz="1400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en-US" sz="1400" b="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Strategy 2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Use Promise-based concurrency (Promise A+ standard in JavaScript): design following JS Promise standard but implementation in C++.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Use Coroutines-based concurrency (C++ 20 feature for async operation)</a:t>
            </a: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7873BBB3-85B6-CBB2-58F3-BA024DDDB21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9652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43E0CB-1822-4778-73D9-706CBBBA33C0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071A4545-BCD9-9593-C38A-759B55F57941}"/>
              </a:ext>
            </a:extLst>
          </p:cNvPr>
          <p:cNvSpPr txBox="1">
            <a:spLocks/>
          </p:cNvSpPr>
          <p:nvPr/>
        </p:nvSpPr>
        <p:spPr>
          <a:xfrm>
            <a:off x="71023" y="588334"/>
            <a:ext cx="4550664" cy="134683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Strategy 1: Advanced Multi-Thread Architecture for Different Workloads</a:t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Main idea:</a:t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SW Task uses main event loop thread for handle light/normal tasks and a separate thread for heavy task (on demand).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User 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selects actively proper API based on task type. Post() for light task and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PostWork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 for heavy task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Same idea in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Nodejs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  <a:hlinkClick r:id="rId3"/>
              </a:rPr>
              <a:t>https://docs.libuv.org/en/v1.x/guide/threads.html#id1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event loop thread: Handle light/normal task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Processes non-blocking I/O operations and light/normal events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All callbacks executed on main thread ensuring responsiveness, never blocks on heavy computations</a:t>
            </a: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400" b="0" dirty="0"/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CPU-bound task thread: Handle heavy task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Dedicated thread for heavy processing operations (file operations, JSON parsing, crypto)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Completely isolated from main event loop thread 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Communicates results back via Promise/State mechanism (introduce later)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Prevents main event loop blocking during intensive computations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400" b="0" dirty="0"/>
          </a:p>
          <a:p>
            <a:pPr>
              <a:lnSpc>
                <a:spcPct val="120000"/>
              </a:lnSpc>
              <a:spcBef>
                <a:spcPct val="50000"/>
              </a:spcBef>
            </a:pP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ECBCF269-E9EC-41AD-0092-D0D5808E91D2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10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3B20E321-24B6-1CC4-373B-1BC0E4CF7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59085"/>
              </p:ext>
            </p:extLst>
          </p:nvPr>
        </p:nvGraphicFramePr>
        <p:xfrm>
          <a:off x="6014721" y="137927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448" y="2045494"/>
            <a:ext cx="2671716" cy="279045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178" y="719032"/>
            <a:ext cx="4808894" cy="478191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681" y="812467"/>
            <a:ext cx="1210497" cy="7149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20580" y="4945337"/>
            <a:ext cx="1731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Handle light/normal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8907" y="4813097"/>
            <a:ext cx="1319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Handle heavy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78EFF37B-83D8-CE21-403E-D610EA026B33}"/>
              </a:ext>
            </a:extLst>
          </p:cNvPr>
          <p:cNvSpPr txBox="1"/>
          <p:nvPr/>
        </p:nvSpPr>
        <p:spPr>
          <a:xfrm>
            <a:off x="8131281" y="5583262"/>
            <a:ext cx="3262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5: Communication Diagram for handling event/task</a:t>
            </a:r>
          </a:p>
        </p:txBody>
      </p:sp>
    </p:spTree>
    <p:extLst>
      <p:ext uri="{BB962C8B-B14F-4D97-AF65-F5344CB8AC3E}">
        <p14:creationId xmlns:p14="http://schemas.microsoft.com/office/powerpoint/2010/main" val="2377349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04F02E-579D-059F-8E3A-6360400138B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43E0CB-1822-4778-73D9-706CBBBA33C0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071A4545-BCD9-9593-C38A-759B55F57941}"/>
              </a:ext>
            </a:extLst>
          </p:cNvPr>
          <p:cNvSpPr txBox="1">
            <a:spLocks/>
          </p:cNvSpPr>
          <p:nvPr/>
        </p:nvSpPr>
        <p:spPr>
          <a:xfrm>
            <a:off x="71023" y="457967"/>
            <a:ext cx="4297412" cy="93309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Strategy 1: Advanced Multi-Thread Architecture for Different Workloads</a:t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Client uses post() for light/normal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task and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postWork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 for heavy task.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For light task, it is handled in 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main event loop thread (non-blocking)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For heavy task, it is handled asynchronously in 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separate thread, then send back result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 main event loop thread to callback 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response to Client through Promise 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system (introduce later).</a:t>
            </a: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ECBCF269-E9EC-41AD-0092-D0D5808E91D2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11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3B20E321-24B6-1CC4-373B-1BC0E4CF7965}"/>
              </a:ext>
            </a:extLst>
          </p:cNvPr>
          <p:cNvGraphicFramePr>
            <a:graphicFrameLocks noGrp="1"/>
          </p:cNvGraphicFramePr>
          <p:nvPr/>
        </p:nvGraphicFramePr>
        <p:xfrm>
          <a:off x="6014721" y="137927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037" y="1767452"/>
            <a:ext cx="3985647" cy="41683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87" y="1312048"/>
            <a:ext cx="3656786" cy="46238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D58378E-74C1-0DF2-527E-B6C91B5AF7FC}"/>
              </a:ext>
            </a:extLst>
          </p:cNvPr>
          <p:cNvSpPr txBox="1"/>
          <p:nvPr/>
        </p:nvSpPr>
        <p:spPr>
          <a:xfrm>
            <a:off x="3752878" y="6040099"/>
            <a:ext cx="3296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6: Sequence Diagram for handling light/normal 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A788E71-3A25-E92D-A4B5-92168CB50E22}"/>
              </a:ext>
            </a:extLst>
          </p:cNvPr>
          <p:cNvSpPr txBox="1"/>
          <p:nvPr/>
        </p:nvSpPr>
        <p:spPr>
          <a:xfrm>
            <a:off x="8267322" y="6047923"/>
            <a:ext cx="37593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7: Sequence Diagram for handling heavy task (simple view)</a:t>
            </a:r>
          </a:p>
        </p:txBody>
      </p:sp>
    </p:spTree>
    <p:extLst>
      <p:ext uri="{BB962C8B-B14F-4D97-AF65-F5344CB8AC3E}">
        <p14:creationId xmlns:p14="http://schemas.microsoft.com/office/powerpoint/2010/main" val="350796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04F02E-579D-059F-8E3A-6360400138B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43E0CB-1822-4778-73D9-706CBBBA33C0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071A4545-BCD9-9593-C38A-759B55F57941}"/>
              </a:ext>
            </a:extLst>
          </p:cNvPr>
          <p:cNvSpPr txBox="1">
            <a:spLocks/>
          </p:cNvSpPr>
          <p:nvPr/>
        </p:nvSpPr>
        <p:spPr>
          <a:xfrm>
            <a:off x="71023" y="457967"/>
            <a:ext cx="4115664" cy="777668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Strategy 1: Advanced Multi-Thread Architecture for Different Workloads</a:t>
            </a: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This diagram shows interaction of internal components of SW task (Main event loop thread, Promise system, CPU-bound task thread)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ECBCF269-E9EC-41AD-0092-D0D5808E91D2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12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3B20E321-24B6-1CC4-373B-1BC0E4CF7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31772"/>
              </p:ext>
            </p:extLst>
          </p:nvPr>
        </p:nvGraphicFramePr>
        <p:xfrm>
          <a:off x="6014721" y="28721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781" y="609013"/>
            <a:ext cx="7959219" cy="55207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FB6A251-25AD-89D6-85C2-F1F306437198}"/>
              </a:ext>
            </a:extLst>
          </p:cNvPr>
          <p:cNvSpPr txBox="1"/>
          <p:nvPr/>
        </p:nvSpPr>
        <p:spPr>
          <a:xfrm>
            <a:off x="6679744" y="6192317"/>
            <a:ext cx="3834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8: Sequence Diagram for handling heavy task (detailed view)</a:t>
            </a:r>
          </a:p>
        </p:txBody>
      </p:sp>
    </p:spTree>
    <p:extLst>
      <p:ext uri="{BB962C8B-B14F-4D97-AF65-F5344CB8AC3E}">
        <p14:creationId xmlns:p14="http://schemas.microsoft.com/office/powerpoint/2010/main" val="2468321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E3AFA40-8218-8E4A-D772-AAE9B93F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FCF3AE6-B6C5-DBB5-9FCC-F49C7F503936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742A0EE0-4629-8D0F-5C60-03301D1312FA}"/>
              </a:ext>
            </a:extLst>
          </p:cNvPr>
          <p:cNvSpPr txBox="1">
            <a:spLocks/>
          </p:cNvSpPr>
          <p:nvPr/>
        </p:nvSpPr>
        <p:spPr>
          <a:xfrm>
            <a:off x="113846" y="437875"/>
            <a:ext cx="4297412" cy="11345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Strategy 2: use Concurrency</a:t>
            </a: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Issue of synchronous call:</a:t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Sync call blocks CPU and caller has to wait result response.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Caller cannot do other job during waiting time, reducing efficiency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Technical Constraints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C++ 20 provides Coroutines feature to support asynchronous operation effectively.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JavaScript provides Promise A+ standard: Efficient for handling async operation with low cost.</a:t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  <a:hlinkClick r:id="rId3"/>
              </a:rPr>
              <a:t>https://promisesaplus.com/</a:t>
            </a: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Propose asynchronous helper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Propose an Async helper based on JavaScript Promise A+ standard and Coroutines C++ 20 (both features run independently): provide rich async API options for user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Async Helper avoids </a:t>
            </a:r>
            <a:r>
              <a:rPr lang="en-US" b="0" dirty="0">
                <a:solidFill>
                  <a:srgbClr val="FF0000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Callback hell problem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and provides convenient usage for Client code.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38910D45-F4CF-8EFB-4628-F5BB4FA71FD0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13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79485232-3959-0E97-C9CB-94E654EC33ED}"/>
              </a:ext>
            </a:extLst>
          </p:cNvPr>
          <p:cNvGraphicFramePr>
            <a:graphicFrameLocks noGrp="1"/>
          </p:cNvGraphicFramePr>
          <p:nvPr/>
        </p:nvGraphicFramePr>
        <p:xfrm>
          <a:off x="6021354" y="15915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EF91E05-B376-B537-C2E8-B5A4A4847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457" y="4826035"/>
            <a:ext cx="1280697" cy="582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F14E45-A0E4-5C9C-CB4D-15E3CBB795DB}"/>
              </a:ext>
            </a:extLst>
          </p:cNvPr>
          <p:cNvSpPr txBox="1"/>
          <p:nvPr/>
        </p:nvSpPr>
        <p:spPr>
          <a:xfrm>
            <a:off x="7363457" y="4963962"/>
            <a:ext cx="222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9: Module view for Async Helper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FC5FFA68-D846-339F-7641-FB03F110C4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589" y="898023"/>
            <a:ext cx="7422565" cy="379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25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3C94A1-1E73-8B2A-284F-3F2108CE3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9E6596A-A02C-EEB2-8F8A-AEE38D92E26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B8E5659-73D7-5471-1BF0-CD4FE07A724E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8AD6B0F8-C2B3-3877-47EC-37CD49C4581A}"/>
              </a:ext>
            </a:extLst>
          </p:cNvPr>
          <p:cNvSpPr txBox="1">
            <a:spLocks/>
          </p:cNvSpPr>
          <p:nvPr/>
        </p:nvSpPr>
        <p:spPr>
          <a:xfrm>
            <a:off x="71023" y="457967"/>
            <a:ext cx="4297412" cy="843532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Strategy 2.a: Promise-based Concurrency</a:t>
            </a:r>
            <a:endParaRPr lang="en-US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Store callback in Promise&lt;T&gt; object as continuation function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When Promise value is fulfilled, continuation is executed asynchronously on main thread event loop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Support Promise chain: sequence of 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multiple callbacks triggered in 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sequential order with exception handling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A1FAFA05-B11E-9D53-D8E1-3E4F3726468C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14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C1E17995-9DA6-9345-EFA1-883645316168}"/>
              </a:ext>
            </a:extLst>
          </p:cNvPr>
          <p:cNvGraphicFramePr>
            <a:graphicFrameLocks noGrp="1"/>
          </p:cNvGraphicFramePr>
          <p:nvPr/>
        </p:nvGraphicFramePr>
        <p:xfrm>
          <a:off x="6014721" y="137927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256" y="2020887"/>
            <a:ext cx="9482827" cy="400951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734" y="6060533"/>
            <a:ext cx="1103184" cy="651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0AD2652-2273-747B-6276-CBD3168D6C4C}"/>
              </a:ext>
            </a:extLst>
          </p:cNvPr>
          <p:cNvSpPr txBox="1"/>
          <p:nvPr/>
        </p:nvSpPr>
        <p:spPr>
          <a:xfrm>
            <a:off x="5913649" y="6037827"/>
            <a:ext cx="2946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10: Communication diagram for Promise flow</a:t>
            </a:r>
          </a:p>
        </p:txBody>
      </p:sp>
    </p:spTree>
    <p:extLst>
      <p:ext uri="{BB962C8B-B14F-4D97-AF65-F5344CB8AC3E}">
        <p14:creationId xmlns:p14="http://schemas.microsoft.com/office/powerpoint/2010/main" val="3206651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04F02E-579D-059F-8E3A-6360400138B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CA7F85-B2BB-A1A8-4252-B9D8F36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15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DF43B80-0935-DBD0-DB67-679D421DB3B7}"/>
              </a:ext>
            </a:extLst>
          </p:cNvPr>
          <p:cNvSpPr txBox="1"/>
          <p:nvPr/>
        </p:nvSpPr>
        <p:spPr>
          <a:xfrm>
            <a:off x="155231" y="146387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1859C86-9651-8D6C-3D58-1492C7D2BD24}"/>
              </a:ext>
            </a:extLst>
          </p:cNvPr>
          <p:cNvSpPr txBox="1"/>
          <p:nvPr/>
        </p:nvSpPr>
        <p:spPr>
          <a:xfrm>
            <a:off x="78365" y="564253"/>
            <a:ext cx="4685285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1463" indent="-27146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 marL="271463" indent="-271463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Strategy 2.a: Promise-based Concurrency</a:t>
            </a:r>
            <a: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Promise Chain example</a:t>
            </a:r>
            <a:endParaRPr lang="x-none" sz="12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x-none" sz="1600" b="1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81AA901A-EF39-4206-C98F-6F99D6D4352B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49773375-21BE-15E8-2778-CBDBE2155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089" y="5364026"/>
            <a:ext cx="2885726" cy="114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19F61D6-A9AA-C4AE-E31A-B04D0A225E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74" y="1679314"/>
            <a:ext cx="4051675" cy="39436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C8B383E-9220-6149-0675-55D520BA5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372" y="2365153"/>
            <a:ext cx="7275838" cy="2332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C1927B0-77F9-6EA5-050E-AA34E18A6856}"/>
              </a:ext>
            </a:extLst>
          </p:cNvPr>
          <p:cNvSpPr txBox="1"/>
          <p:nvPr/>
        </p:nvSpPr>
        <p:spPr>
          <a:xfrm>
            <a:off x="5468075" y="4498533"/>
            <a:ext cx="40879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11: Visualize promise chain and user code (callbacks recursively)</a:t>
            </a:r>
          </a:p>
        </p:txBody>
      </p:sp>
    </p:spTree>
    <p:extLst>
      <p:ext uri="{BB962C8B-B14F-4D97-AF65-F5344CB8AC3E}">
        <p14:creationId xmlns:p14="http://schemas.microsoft.com/office/powerpoint/2010/main" val="3598479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F9AF6D2-590B-B33F-22F3-F89AF6E8F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60B3B7E-B560-2EAC-5C83-7DBD47F344B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5E70BAF-E014-F94C-CDCB-D40F7ABF05BC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4F2A179F-23CE-3DC8-373D-20ADF3A42432}"/>
              </a:ext>
            </a:extLst>
          </p:cNvPr>
          <p:cNvSpPr txBox="1">
            <a:spLocks/>
          </p:cNvSpPr>
          <p:nvPr/>
        </p:nvSpPr>
        <p:spPr>
          <a:xfrm>
            <a:off x="71023" y="457967"/>
            <a:ext cx="4297412" cy="70480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Strategy 2.a: Promise-based Concurrency</a:t>
            </a:r>
            <a:endParaRPr lang="en-US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3779AB85-467C-BEAF-4E10-C69B9B3314EB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16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0078FCDE-4F79-46B9-B355-E14A515AD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47161"/>
              </p:ext>
            </p:extLst>
          </p:nvPr>
        </p:nvGraphicFramePr>
        <p:xfrm>
          <a:off x="6021354" y="61806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580" y="689674"/>
            <a:ext cx="6727606" cy="61140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1C99FD0-CA3E-C5A9-5B44-A3FCFE008C6F}"/>
              </a:ext>
            </a:extLst>
          </p:cNvPr>
          <p:cNvSpPr txBox="1"/>
          <p:nvPr/>
        </p:nvSpPr>
        <p:spPr>
          <a:xfrm>
            <a:off x="959404" y="5219569"/>
            <a:ext cx="117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User code (C++)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1E4F385-7730-E973-7205-1A44B12C3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39" y="1133861"/>
            <a:ext cx="3754877" cy="45096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CF38046-9259-C1B0-B695-944710133264}"/>
              </a:ext>
            </a:extLst>
          </p:cNvPr>
          <p:cNvSpPr txBox="1"/>
          <p:nvPr/>
        </p:nvSpPr>
        <p:spPr>
          <a:xfrm>
            <a:off x="1188579" y="1546193"/>
            <a:ext cx="1560371" cy="14127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x-none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A8B11092-6037-172E-00E6-162A6D812114}"/>
              </a:ext>
            </a:extLst>
          </p:cNvPr>
          <p:cNvSpPr txBox="1"/>
          <p:nvPr/>
        </p:nvSpPr>
        <p:spPr>
          <a:xfrm>
            <a:off x="376881" y="3319211"/>
            <a:ext cx="3292221" cy="696748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x-none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27E473F-030F-A877-8F6E-5206B48707C4}"/>
              </a:ext>
            </a:extLst>
          </p:cNvPr>
          <p:cNvSpPr txBox="1"/>
          <p:nvPr/>
        </p:nvSpPr>
        <p:spPr>
          <a:xfrm>
            <a:off x="375251" y="4040820"/>
            <a:ext cx="3506341" cy="1106274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x-none"/>
          </a:p>
        </p:txBody>
      </p:sp>
      <p:cxnSp>
        <p:nvCxnSpPr>
          <p:cNvPr id="19" name="Curved Connector 18">
            <a:extLst>
              <a:ext uri="{FF2B5EF4-FFF2-40B4-BE49-F238E27FC236}">
                <a16:creationId xmlns="" xmlns:a16="http://schemas.microsoft.com/office/drawing/2014/main" id="{737500A2-B3FB-8056-282D-39739DE9BDAE}"/>
              </a:ext>
            </a:extLst>
          </p:cNvPr>
          <p:cNvCxnSpPr>
            <a:cxnSpLocks/>
          </p:cNvCxnSpPr>
          <p:nvPr/>
        </p:nvCxnSpPr>
        <p:spPr>
          <a:xfrm>
            <a:off x="2748950" y="1616015"/>
            <a:ext cx="2863971" cy="138023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="" xmlns:a16="http://schemas.microsoft.com/office/drawing/2014/main" id="{E3809FD0-E0FF-D525-6F07-068A23103294}"/>
              </a:ext>
            </a:extLst>
          </p:cNvPr>
          <p:cNvCxnSpPr>
            <a:cxnSpLocks/>
          </p:cNvCxnSpPr>
          <p:nvPr/>
        </p:nvCxnSpPr>
        <p:spPr>
          <a:xfrm>
            <a:off x="3669102" y="3690452"/>
            <a:ext cx="1995577" cy="697518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="" xmlns:a16="http://schemas.microsoft.com/office/drawing/2014/main" id="{3DE237E2-2D9E-2B56-DE9E-3C4106BCEED4}"/>
              </a:ext>
            </a:extLst>
          </p:cNvPr>
          <p:cNvCxnSpPr>
            <a:cxnSpLocks/>
          </p:cNvCxnSpPr>
          <p:nvPr/>
        </p:nvCxnSpPr>
        <p:spPr>
          <a:xfrm>
            <a:off x="3881592" y="4544467"/>
            <a:ext cx="1783087" cy="697518"/>
          </a:xfrm>
          <a:prstGeom prst="curvedConnector3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D184696-085D-2FF0-9ADC-2C886861B16A}"/>
              </a:ext>
            </a:extLst>
          </p:cNvPr>
          <p:cNvSpPr txBox="1"/>
          <p:nvPr/>
        </p:nvSpPr>
        <p:spPr>
          <a:xfrm>
            <a:off x="805950" y="5859932"/>
            <a:ext cx="32399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12: mapping user code with sequence diagram (a)</a:t>
            </a:r>
          </a:p>
        </p:txBody>
      </p:sp>
    </p:spTree>
    <p:extLst>
      <p:ext uri="{BB962C8B-B14F-4D97-AF65-F5344CB8AC3E}">
        <p14:creationId xmlns:p14="http://schemas.microsoft.com/office/powerpoint/2010/main" val="3804452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3A0161-BDFC-FE85-F090-D17189B9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A80C0B-3550-EC88-DC2A-6AD2DB15A1C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15A26DB9-C561-7368-FF33-7E3B1276A141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C6E13A67-5A49-C094-C396-5F2C96B57E13}"/>
              </a:ext>
            </a:extLst>
          </p:cNvPr>
          <p:cNvSpPr txBox="1">
            <a:spLocks/>
          </p:cNvSpPr>
          <p:nvPr/>
        </p:nvSpPr>
        <p:spPr>
          <a:xfrm>
            <a:off x="71023" y="457967"/>
            <a:ext cx="4297412" cy="70480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Strategy 2.a: Promise-based Concurrency</a:t>
            </a:r>
            <a:endParaRPr lang="en-US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4634B08C-08CA-E756-0A3A-1052A73C671F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17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4CD994CF-3340-722D-6B40-CC213DF0ABD5}"/>
              </a:ext>
            </a:extLst>
          </p:cNvPr>
          <p:cNvGraphicFramePr>
            <a:graphicFrameLocks noGrp="1"/>
          </p:cNvGraphicFramePr>
          <p:nvPr/>
        </p:nvGraphicFramePr>
        <p:xfrm>
          <a:off x="6021354" y="61806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51" y="560297"/>
            <a:ext cx="4826497" cy="6161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3BD50CC-DEBD-1683-3C53-3F76868789AD}"/>
              </a:ext>
            </a:extLst>
          </p:cNvPr>
          <p:cNvSpPr txBox="1"/>
          <p:nvPr/>
        </p:nvSpPr>
        <p:spPr>
          <a:xfrm>
            <a:off x="959404" y="5219569"/>
            <a:ext cx="1178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User code (C++)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0CE3F6F5-AF15-A171-9796-DBC66FB0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12" y="1225019"/>
            <a:ext cx="3754877" cy="45096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9EAB59C5-6976-C9B3-B00F-6950C9F8660B}"/>
              </a:ext>
            </a:extLst>
          </p:cNvPr>
          <p:cNvSpPr txBox="1"/>
          <p:nvPr/>
        </p:nvSpPr>
        <p:spPr>
          <a:xfrm>
            <a:off x="849293" y="2181044"/>
            <a:ext cx="1272100" cy="19015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x-none"/>
          </a:p>
        </p:txBody>
      </p:sp>
      <p:cxnSp>
        <p:nvCxnSpPr>
          <p:cNvPr id="16" name="Curved Connector 15">
            <a:extLst>
              <a:ext uri="{FF2B5EF4-FFF2-40B4-BE49-F238E27FC236}">
                <a16:creationId xmlns="" xmlns:a16="http://schemas.microsoft.com/office/drawing/2014/main" id="{5029355D-641F-CB89-50EF-30DBB13D83F1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121393" y="1915064"/>
            <a:ext cx="5222562" cy="361056"/>
          </a:xfrm>
          <a:prstGeom prst="curvedConnector3">
            <a:avLst/>
          </a:prstGeom>
          <a:ln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F766D5C-1FFB-4CA5-BB2A-1753B2BC3215}"/>
              </a:ext>
            </a:extLst>
          </p:cNvPr>
          <p:cNvSpPr txBox="1"/>
          <p:nvPr/>
        </p:nvSpPr>
        <p:spPr>
          <a:xfrm>
            <a:off x="654002" y="5922399"/>
            <a:ext cx="32399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13: mapping user code with sequence diagram (b)</a:t>
            </a:r>
          </a:p>
        </p:txBody>
      </p:sp>
    </p:spTree>
    <p:extLst>
      <p:ext uri="{BB962C8B-B14F-4D97-AF65-F5344CB8AC3E}">
        <p14:creationId xmlns:p14="http://schemas.microsoft.com/office/powerpoint/2010/main" val="3569965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C833D55-A7BE-ACDD-B545-0C69B3B9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9EE9733-A206-755C-0F5C-A513B2A58615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C2B6386D-47B8-8EC8-B72E-053093C61AE7}"/>
              </a:ext>
            </a:extLst>
          </p:cNvPr>
          <p:cNvSpPr txBox="1">
            <a:spLocks/>
          </p:cNvSpPr>
          <p:nvPr/>
        </p:nvSpPr>
        <p:spPr>
          <a:xfrm>
            <a:off x="28752" y="466723"/>
            <a:ext cx="4297412" cy="97103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Strategy 2.b: Coroutines-based Concurrency</a:t>
            </a:r>
            <a:endParaRPr lang="en-US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Protocol Compliance: All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awaitables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implement standard C++20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coroutine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protocol</a:t>
            </a:r>
            <a:b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Task&lt;T&gt;: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Return type of a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coroutine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, it represents entire </a:t>
            </a:r>
            <a:r>
              <a:rPr lang="en-US" b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coroutine</a:t>
            </a: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. It manage </a:t>
            </a: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lifecycle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and execution </a:t>
            </a:r>
            <a:r>
              <a:rPr lang="en-US" b="0" dirty="0" smtClean="0">
                <a:latin typeface="Arial" panose="020B0604020202020204" pitchFamily="34" charset="0"/>
                <a:cs typeface="Arial" panose="020B0604020202020204" pitchFamily="34" charset="0"/>
              </a:rPr>
              <a:t>state.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PostAwaitable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&lt;T&gt;: 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An object used with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co_await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to define a specific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async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 operation. It implements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await_ready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(),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await_suspend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(),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await_resume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 to manage suspension and resumption of </a:t>
            </a:r>
            <a:r>
              <a:rPr lang="en-US" b="0" dirty="0" err="1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couroutine</a:t>
            </a:r>
            <a:r>
              <a:rPr lang="en-US" b="0" dirty="0" smtClean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.</a:t>
            </a:r>
            <a:endParaRPr lang="en-US" b="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b="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59EB94CC-9FD8-BC79-A914-7A5F01C35DEE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18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1F6E418A-849D-06C8-C246-36D266C56A6C}"/>
              </a:ext>
            </a:extLst>
          </p:cNvPr>
          <p:cNvGraphicFramePr>
            <a:graphicFrameLocks noGrp="1"/>
          </p:cNvGraphicFramePr>
          <p:nvPr/>
        </p:nvGraphicFramePr>
        <p:xfrm>
          <a:off x="1834916" y="349034"/>
          <a:ext cx="4855531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6415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79116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C80D1CB-481C-CA27-EEFD-CFD8AFD9D375}"/>
              </a:ext>
            </a:extLst>
          </p:cNvPr>
          <p:cNvSpPr txBox="1"/>
          <p:nvPr/>
        </p:nvSpPr>
        <p:spPr>
          <a:xfrm>
            <a:off x="4595684" y="6262745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14: Coroutines design (C&amp;C diagram)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0A0990E-5291-051F-95D5-508DA4D2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980" y="11931"/>
            <a:ext cx="4526835" cy="625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34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9AC0544-C471-0D7E-DD71-62E5834E6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B0DE06F-382B-F221-6626-EB0C6BCC8A82}"/>
              </a:ext>
            </a:extLst>
          </p:cNvPr>
          <p:cNvSpPr txBox="1"/>
          <p:nvPr/>
        </p:nvSpPr>
        <p:spPr>
          <a:xfrm>
            <a:off x="0" y="-1979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40BA3348-4C24-084B-E654-EEC74759BEE7}"/>
              </a:ext>
            </a:extLst>
          </p:cNvPr>
          <p:cNvSpPr txBox="1">
            <a:spLocks/>
          </p:cNvSpPr>
          <p:nvPr/>
        </p:nvSpPr>
        <p:spPr>
          <a:xfrm>
            <a:off x="28752" y="466723"/>
            <a:ext cx="4297412" cy="704808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Strategy 2.b: Coroutines-based Concurrency</a:t>
            </a:r>
            <a:endParaRPr lang="en-US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FD196BCD-2B40-01D1-3AD6-4804B3656254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19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4F543CA5-C55F-0FD4-E04E-39AFE5DD5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622435"/>
              </p:ext>
            </p:extLst>
          </p:nvPr>
        </p:nvGraphicFramePr>
        <p:xfrm>
          <a:off x="1834916" y="349034"/>
          <a:ext cx="4855531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6415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79116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340EF35F-0738-140F-9C93-B60709F0AAB7}"/>
              </a:ext>
            </a:extLst>
          </p:cNvPr>
          <p:cNvSpPr txBox="1"/>
          <p:nvPr/>
        </p:nvSpPr>
        <p:spPr>
          <a:xfrm>
            <a:off x="1863892" y="6230885"/>
            <a:ext cx="28985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15: Map user code with sequence diagram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87EA3BE2-35A7-2554-014C-9735E3D8C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77" y="60905"/>
            <a:ext cx="5458665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51" y="1160193"/>
            <a:ext cx="4333936" cy="48726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ABE366A5-7735-54BF-A57D-EDB30E32AB2E}"/>
              </a:ext>
            </a:extLst>
          </p:cNvPr>
          <p:cNvSpPr txBox="1"/>
          <p:nvPr/>
        </p:nvSpPr>
        <p:spPr>
          <a:xfrm>
            <a:off x="1512697" y="3215379"/>
            <a:ext cx="2390230" cy="16344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x-none"/>
          </a:p>
        </p:txBody>
      </p:sp>
      <p:cxnSp>
        <p:nvCxnSpPr>
          <p:cNvPr id="20" name="Curved Connector 19">
            <a:extLst>
              <a:ext uri="{FF2B5EF4-FFF2-40B4-BE49-F238E27FC236}">
                <a16:creationId xmlns="" xmlns:a16="http://schemas.microsoft.com/office/drawing/2014/main" id="{6FA5EAE6-78C2-ADE4-09D9-BF0E02E7927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902927" y="851210"/>
            <a:ext cx="3367668" cy="2445890"/>
          </a:xfrm>
          <a:prstGeom prst="curvedConnector3">
            <a:avLst>
              <a:gd name="adj1" fmla="val 50000"/>
            </a:avLst>
          </a:prstGeom>
          <a:ln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320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CA7F85-B2BB-A1A8-4252-B9D8F36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20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F30CCA1-3B61-2DDF-704B-22CA5182F06E}"/>
              </a:ext>
            </a:extLst>
          </p:cNvPr>
          <p:cNvSpPr txBox="1"/>
          <p:nvPr/>
        </p:nvSpPr>
        <p:spPr>
          <a:xfrm>
            <a:off x="64139" y="152639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.1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Performance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38A7FBB-592D-61BD-D53C-1D47CC36A23D}"/>
              </a:ext>
            </a:extLst>
          </p:cNvPr>
          <p:cNvSpPr txBox="1"/>
          <p:nvPr/>
        </p:nvSpPr>
        <p:spPr>
          <a:xfrm>
            <a:off x="498185" y="656692"/>
            <a:ext cx="26516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Architectural Decision</a:t>
            </a:r>
            <a:endParaRPr lang="x-none" sz="1600" b="1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4DAB6D25-862B-ACAC-9B6E-ED8926477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98624"/>
              </p:ext>
            </p:extLst>
          </p:nvPr>
        </p:nvGraphicFramePr>
        <p:xfrm>
          <a:off x="718056" y="1171146"/>
          <a:ext cx="8420333" cy="556564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9410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3374814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3386109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</a:tblGrid>
              <a:tr h="34911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Alternatives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SW Task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Tiger Looper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Non-blocking processing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never freezes on heavy tasks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Dedicated CPU-bound task thread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Heavy computation isolated from main event loop.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Multi-core utilization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Can leverage all available CPU cores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Parallel workload processing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normal task and CPU-bound tasks run simultaneously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Coroutines C++20-based async and Promise-based async(JavaScript Promise A+ standard)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provide efficient async operation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This design shows that QA-01 is satisfied in architectural rationale. Verification section later proves practical result.   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memory footprint: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thread uses less memory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Simple execution model: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thread coordination overhead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Predictable behavior: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execution is deterministic</a:t>
                      </a: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Thread overhead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Multiple threads consume more memory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Context switching cost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Some overhead from thread coordination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support C++ 11 (old standard)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Blocking: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CPU tasks freeze entire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Single-threaded bottleneck: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utilize multiple CPU cores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processing: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All operations must wait in line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Poor scalability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Performance degrades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significantly under load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parallelism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- Cannot handle concurrent </a:t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operations</a:t>
                      </a:r>
                      <a:endParaRPr lang="en-US" altLang="ko-KR" sz="1200" b="0" dirty="0"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</a:tbl>
          </a:graphicData>
        </a:graphic>
      </p:graphicFrame>
      <p:pic>
        <p:nvPicPr>
          <p:cNvPr id="7" name="Picture 2" descr="체크 표시 클립 아트. 무료 다운로드. | Creazilla">
            <a:extLst>
              <a:ext uri="{FF2B5EF4-FFF2-40B4-BE49-F238E27FC236}">
                <a16:creationId xmlns="" xmlns:a16="http://schemas.microsoft.com/office/drawing/2014/main" id="{07DB846E-8DD2-9BB2-88FF-8A7E0BD6C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436" y="6482309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표 36">
            <a:extLst>
              <a:ext uri="{FF2B5EF4-FFF2-40B4-BE49-F238E27FC236}">
                <a16:creationId xmlns="" xmlns:a16="http://schemas.microsoft.com/office/drawing/2014/main" id="{01A0473F-7F39-A71B-0CFC-D84EE1C09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59085"/>
              </p:ext>
            </p:extLst>
          </p:nvPr>
        </p:nvGraphicFramePr>
        <p:xfrm>
          <a:off x="6014721" y="137927"/>
          <a:ext cx="6099623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75350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5124273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23627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QA-01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must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andle high-frequency events with response time under 1 sec.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44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50E06F-87BD-D5DE-2D11-178B95DFC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B904824-65BF-2617-503A-3462C2E53C3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12A02E5-013B-132D-DFE3-8BFEB47D5B37}"/>
              </a:ext>
            </a:extLst>
          </p:cNvPr>
          <p:cNvSpPr txBox="1"/>
          <p:nvPr/>
        </p:nvSpPr>
        <p:spPr>
          <a:xfrm>
            <a:off x="-1" y="-19799"/>
            <a:ext cx="78251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9182C66-0C23-6D7D-A10A-A3931ACD2428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4297412" cy="1062976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 (Tiger Looper)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Resource Waste Issue: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- Tiger Looper uses POSIX timer creation (</a:t>
            </a:r>
            <a:r>
              <a:rPr lang="en-US" b="0" err="1">
                <a:latin typeface="Arial" panose="020B0604020202020204" pitchFamily="34" charset="0"/>
                <a:cs typeface="Arial" panose="020B0604020202020204" pitchFamily="34" charset="0"/>
              </a:rPr>
              <a:t>timer_create</a:t>
            </a: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 with SIGEV_THREAD type)</a:t>
            </a:r>
            <a:b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https://man7.org/linux/man-pages/man2/timer_create.2.html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- Each timer creates new thread to handle timer callback → Massive memory overhead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100 timers = 100 threads = 800MB memory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- System instability under load, poor scalability </a:t>
            </a:r>
            <a:endParaRPr lang="en-US" sz="1000" b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-  Memory waste: 8MB per timer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- CPU overhead from thread switching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Tiger Looper's thread-per-timer design is fundamentally inefficient for production use.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C8BB1F3D-B951-E184-12F0-50E1F1E186B9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21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3CE26C7D-F6B8-33BD-0AE7-C9658BD7D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178515"/>
              </p:ext>
            </p:extLst>
          </p:nvPr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389" y="538037"/>
            <a:ext cx="6460692" cy="552514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93" y="6185363"/>
            <a:ext cx="2007188" cy="6315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39D2EA1-3834-2DC1-C0AE-D8237FB67F29}"/>
              </a:ext>
            </a:extLst>
          </p:cNvPr>
          <p:cNvSpPr txBox="1"/>
          <p:nvPr/>
        </p:nvSpPr>
        <p:spPr>
          <a:xfrm>
            <a:off x="6470442" y="6261913"/>
            <a:ext cx="2529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200" dirty="0"/>
              <a:t>Fig 16: Timer problem in Tiger Looper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448433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F086B2-0B7C-8AD9-CA55-D2778715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9A6CC1-BAB5-ED58-8F9D-2EACC7D0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5F6BBE-DC99-6AAE-7B94-47F99A776055}"/>
              </a:ext>
            </a:extLst>
          </p:cNvPr>
          <p:cNvSpPr txBox="1"/>
          <p:nvPr/>
        </p:nvSpPr>
        <p:spPr>
          <a:xfrm>
            <a:off x="-1" y="-19799"/>
            <a:ext cx="6997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FF6F5D8-25EA-48F1-3910-0BA976C7191E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6006492" cy="1124686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dirty="0"/>
              <a:t>Advanced Timer Management</a:t>
            </a:r>
            <a:endParaRPr lang="en-US" b="0" dirty="0"/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dedicated timer thread architecture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SW Task uses a single timer thread to manage Client application’s timers.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- 1 dedicated timer thread handles 1000+ timers efficiently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Linux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epoll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timerfd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kernel integration for optimal performance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O(1) timer creation, deletion, and expiration operations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Constant memory usage regardless of timer count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Technical benefits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Scalability: Single thread scales to thousands of timers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Kernel Optimization: Direct Linux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timerfd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integration eliminates polling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Memory Efficiency: Fixed memory footprint vs. thread-per-timer approach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Performance: O(1) operations ensure consistent response times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Operational efficiency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Timer events processed via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epoll_wait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 with minimal CPU overhead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Expired timer callbacks posted to main thread for execution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Automatic cleanup of one-shot timers, persistent handling of periodic timers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Thread-safe cancellation without blocking timer operations</a:t>
            </a:r>
            <a:endParaRPr lang="en-US" sz="10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062968AF-314E-443A-D957-1F21DDA8B49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22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3F9182AD-035A-DC7C-A31C-28EBE946F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649385"/>
              </p:ext>
            </p:extLst>
          </p:nvPr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545" y="669553"/>
            <a:ext cx="3969256" cy="56496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326" y="5594141"/>
            <a:ext cx="1337301" cy="60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EBE8988-F5A8-847E-35FD-0787278547CA}"/>
              </a:ext>
            </a:extLst>
          </p:cNvPr>
          <p:cNvSpPr txBox="1"/>
          <p:nvPr/>
        </p:nvSpPr>
        <p:spPr>
          <a:xfrm>
            <a:off x="8091070" y="6325731"/>
            <a:ext cx="2954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17: module view of Timer system in SW Task</a:t>
            </a:r>
          </a:p>
        </p:txBody>
      </p:sp>
    </p:spTree>
    <p:extLst>
      <p:ext uri="{BB962C8B-B14F-4D97-AF65-F5344CB8AC3E}">
        <p14:creationId xmlns:p14="http://schemas.microsoft.com/office/powerpoint/2010/main" val="3209567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F086B2-0B7C-8AD9-CA55-D2778715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9A6CC1-BAB5-ED58-8F9D-2EACC7D0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5F6BBE-DC99-6AAE-7B94-47F99A776055}"/>
              </a:ext>
            </a:extLst>
          </p:cNvPr>
          <p:cNvSpPr txBox="1"/>
          <p:nvPr/>
        </p:nvSpPr>
        <p:spPr>
          <a:xfrm>
            <a:off x="-1" y="-19799"/>
            <a:ext cx="6823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FF6F5D8-25EA-48F1-3910-0BA976C7191E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4297412" cy="966335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Tiger Looper vs. SW Task Comparison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Tiger Problems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N timers = N threads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Thread creation overhead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Context switch cost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SW Task Advantages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N timers = 1 thread only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No thread creation cost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Single </a:t>
            </a:r>
            <a:r>
              <a:rPr lang="en-US" b="0" dirty="0" err="1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epoll_wait</a:t>
            </a: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() call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b="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Scales to thousands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062968AF-314E-443A-D957-1F21DDA8B49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23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3F9182AD-035A-DC7C-A31C-28EBE946F60B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681" y="1013809"/>
            <a:ext cx="9075875" cy="57132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277" y="4810252"/>
            <a:ext cx="2399252" cy="754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FEC3403-A70E-30C0-21D3-D2329E91BF29}"/>
              </a:ext>
            </a:extLst>
          </p:cNvPr>
          <p:cNvSpPr txBox="1"/>
          <p:nvPr/>
        </p:nvSpPr>
        <p:spPr>
          <a:xfrm>
            <a:off x="3992325" y="5877175"/>
            <a:ext cx="3171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18: compare Timer of SW Task and Tiger Looper</a:t>
            </a:r>
          </a:p>
        </p:txBody>
      </p:sp>
    </p:spTree>
    <p:extLst>
      <p:ext uri="{BB962C8B-B14F-4D97-AF65-F5344CB8AC3E}">
        <p14:creationId xmlns:p14="http://schemas.microsoft.com/office/powerpoint/2010/main" val="3851387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F086B2-0B7C-8AD9-CA55-D2778715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9A6CC1-BAB5-ED58-8F9D-2EACC7D0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5F6BBE-DC99-6AAE-7B94-47F99A776055}"/>
              </a:ext>
            </a:extLst>
          </p:cNvPr>
          <p:cNvSpPr txBox="1"/>
          <p:nvPr/>
        </p:nvSpPr>
        <p:spPr>
          <a:xfrm>
            <a:off x="-1" y="-19799"/>
            <a:ext cx="6823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FF6F5D8-25EA-48F1-3910-0BA976C7191E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4297412" cy="113838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timer management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Fig 15 shows communication diagram for using timer in SW Task.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It provides below advantages: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 Efficiently handles multiple timers and file descriptors with low overhead, ideal for high-concurrency applications.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Unified event loop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 Integrates timer events in a single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epoll_wait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 call, simplifying event-driven programming.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timerfd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 provides high-resolution timers, and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epoll_wait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 ensures accurate, non-blocking event notifications.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 efficiency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 Minimizes CPU usage by only reporting active timers, avoiding busy polling.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 Supports both one-shot and periodic timers, with easy reconfiguration via </a:t>
            </a: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timerfd_settime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062968AF-314E-443A-D957-1F21DDA8B49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24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3F9182AD-035A-DC7C-A31C-28EBE946F60B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192" y="581025"/>
            <a:ext cx="7153275" cy="5695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186" y="5218946"/>
            <a:ext cx="1378953" cy="8144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96EAEA8-B069-2DF8-EB4D-7BC88395865A}"/>
              </a:ext>
            </a:extLst>
          </p:cNvPr>
          <p:cNvSpPr txBox="1"/>
          <p:nvPr/>
        </p:nvSpPr>
        <p:spPr>
          <a:xfrm>
            <a:off x="5506976" y="6233239"/>
            <a:ext cx="29097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19: Communication diagram for timer design</a:t>
            </a:r>
          </a:p>
        </p:txBody>
      </p:sp>
    </p:spTree>
    <p:extLst>
      <p:ext uri="{BB962C8B-B14F-4D97-AF65-F5344CB8AC3E}">
        <p14:creationId xmlns:p14="http://schemas.microsoft.com/office/powerpoint/2010/main" val="956882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F086B2-0B7C-8AD9-CA55-D2778715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9A6CC1-BAB5-ED58-8F9D-2EACC7D0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5F6BBE-DC99-6AAE-7B94-47F99A776055}"/>
              </a:ext>
            </a:extLst>
          </p:cNvPr>
          <p:cNvSpPr txBox="1"/>
          <p:nvPr/>
        </p:nvSpPr>
        <p:spPr>
          <a:xfrm>
            <a:off x="-1" y="-19799"/>
            <a:ext cx="6823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FF6F5D8-25EA-48F1-3910-0BA976C7191E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4297412" cy="76551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timer management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FontTx/>
              <a:buChar char="-"/>
            </a:pPr>
            <a:r>
              <a:rPr lang="en-US" b="0" dirty="0"/>
              <a:t>Timer creation in SW task and simple example in user code.</a:t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062968AF-314E-443A-D957-1F21DDA8B49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25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3F9182AD-035A-DC7C-A31C-28EBE946F60B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635" y="702301"/>
            <a:ext cx="7369778" cy="5858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3942DBF-2BAE-77C4-BA4B-BB59A527CD63}"/>
              </a:ext>
            </a:extLst>
          </p:cNvPr>
          <p:cNvSpPr txBox="1"/>
          <p:nvPr/>
        </p:nvSpPr>
        <p:spPr>
          <a:xfrm>
            <a:off x="7160358" y="6501136"/>
            <a:ext cx="13195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000" dirty="0"/>
              <a:t>Fig 20: Timer </a:t>
            </a:r>
            <a:r>
              <a:rPr lang="en-US" sz="1000" noProof="0" dirty="0"/>
              <a:t>creation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30499039-F55B-0A62-D4DF-0E54F2E77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4" y="2151275"/>
            <a:ext cx="4403541" cy="23169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1106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F086B2-0B7C-8AD9-CA55-D2778715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9A6CC1-BAB5-ED58-8F9D-2EACC7D0941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45F6BBE-DC99-6AAE-7B94-47F99A776055}"/>
              </a:ext>
            </a:extLst>
          </p:cNvPr>
          <p:cNvSpPr txBox="1"/>
          <p:nvPr/>
        </p:nvSpPr>
        <p:spPr>
          <a:xfrm>
            <a:off x="-1" y="-19799"/>
            <a:ext cx="68236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FF6F5D8-25EA-48F1-3910-0BA976C7191E}"/>
              </a:ext>
            </a:extLst>
          </p:cNvPr>
          <p:cNvSpPr txBox="1">
            <a:spLocks/>
          </p:cNvSpPr>
          <p:nvPr/>
        </p:nvSpPr>
        <p:spPr>
          <a:xfrm>
            <a:off x="61094" y="702301"/>
            <a:ext cx="4297412" cy="75843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Advanced timer management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Internal interaction in detailed.</a:t>
            </a:r>
          </a:p>
          <a:p>
            <a:pPr>
              <a:buFontTx/>
              <a:buChar char="-"/>
            </a:pPr>
            <a:r>
              <a:rPr lang="en-US" b="0" dirty="0" err="1">
                <a:latin typeface="Arial" panose="020B0604020202020204" pitchFamily="34" charset="0"/>
                <a:cs typeface="Arial" panose="020B0604020202020204" pitchFamily="34" charset="0"/>
              </a:rPr>
              <a:t>epoll_wait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() is I/O multiplexing to check timer events from Linux kernel.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062968AF-314E-443A-D957-1F21DDA8B49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26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3F9182AD-035A-DC7C-A31C-28EBE946F60B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QA-02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must provide optimal resource utilization with advanced timer management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412" y="426680"/>
            <a:ext cx="6894495" cy="6400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0983D6F-659C-0E81-1157-817B3CA3E59B}"/>
              </a:ext>
            </a:extLst>
          </p:cNvPr>
          <p:cNvSpPr txBox="1"/>
          <p:nvPr/>
        </p:nvSpPr>
        <p:spPr>
          <a:xfrm>
            <a:off x="1982571" y="6475254"/>
            <a:ext cx="2858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21: Internal interaction for Timer processing</a:t>
            </a:r>
          </a:p>
        </p:txBody>
      </p:sp>
    </p:spTree>
    <p:extLst>
      <p:ext uri="{BB962C8B-B14F-4D97-AF65-F5344CB8AC3E}">
        <p14:creationId xmlns:p14="http://schemas.microsoft.com/office/powerpoint/2010/main" val="830657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8880564-83E7-6BD6-463E-FEA167D06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D2AABFA-08F0-5A0C-9BD8-31D4C998401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FE86035-DBF9-D1B8-B217-6A8C98417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27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02242B4-6344-231C-EFAF-9F222F24449A}"/>
              </a:ext>
            </a:extLst>
          </p:cNvPr>
          <p:cNvSpPr txBox="1"/>
          <p:nvPr/>
        </p:nvSpPr>
        <p:spPr>
          <a:xfrm>
            <a:off x="48533" y="59064"/>
            <a:ext cx="8210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.2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</a:t>
            </a:r>
            <a:r>
              <a:rPr kumimoji="1"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Efficiency (resource utilization)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AB9BBB4-3C81-AD73-865B-3EA663C274D5}"/>
              </a:ext>
            </a:extLst>
          </p:cNvPr>
          <p:cNvSpPr txBox="1"/>
          <p:nvPr/>
        </p:nvSpPr>
        <p:spPr>
          <a:xfrm>
            <a:off x="48534" y="587680"/>
            <a:ext cx="343078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Architectural Decision</a:t>
            </a:r>
            <a:b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The design of Timer in SW Task shows that it satisfies QA-02:</a:t>
            </a:r>
            <a:b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must provide optimal resource utilization with advanced timer management (Efficiency)</a:t>
            </a:r>
          </a:p>
          <a:p>
            <a: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2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FD6E3A6E-142C-8A1D-1F2F-361EC61B7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66073"/>
              </p:ext>
            </p:extLst>
          </p:nvPr>
        </p:nvGraphicFramePr>
        <p:xfrm>
          <a:off x="3870854" y="753015"/>
          <a:ext cx="8272612" cy="48033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30299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3384618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3257695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</a:tblGrid>
              <a:tr h="68407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Alternatives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SW Task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Tiger Looper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Single timer thread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Handles 1000+ timers efficiently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Constant memory usage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regardless of timer count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O(1) timer operations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epoll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kernel integration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 thread proliferation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Eliminates SIGEV_THREAD waste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Kernel-level optimization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timerfd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epoll</a:t>
                      </a:r>
                      <a:endParaRPr lang="en-US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Linear scalability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To thousands of timers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Fixed memory footprint</a:t>
                      </a:r>
                    </a:p>
                    <a:p>
                      <a:endParaRPr lang="en-US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Simple resource model: 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Easy to understand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POSIX compliance: 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Standard timer APIs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Predictable behavior: 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Sequential execution is deterministic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 b="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Linux-specific optimization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US" sz="1200" b="0" kern="1200" dirty="0" err="1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epoll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dependency</a:t>
                      </a:r>
                    </a:p>
                    <a:p>
                      <a:endParaRPr lang="en-US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Thread proliferation: 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Each timer creates new thread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Exponential memory growth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100 timers = 800MB memory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High context switch overhead</a:t>
                      </a:r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Excessive CPU waste</a:t>
                      </a:r>
                    </a:p>
                    <a:p>
                      <a:r>
                        <a:rPr lang="en-US" sz="1200" b="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System instability under moderate loads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7877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</a:tbl>
          </a:graphicData>
        </a:graphic>
      </p:graphicFrame>
      <p:pic>
        <p:nvPicPr>
          <p:cNvPr id="7" name="Picture 2" descr="체크 표시 클립 아트. 무료 다운로드. | Creazilla">
            <a:extLst>
              <a:ext uri="{FF2B5EF4-FFF2-40B4-BE49-F238E27FC236}">
                <a16:creationId xmlns="" xmlns:a16="http://schemas.microsoft.com/office/drawing/2014/main" id="{C43916FC-6842-1091-9490-D57D65E64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208" y="5280849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9149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ECB2EED-4BCE-0992-83BF-2E10C203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B58D22-3158-E8C3-5B69-36FD9A41695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3A86ABB-603B-FBD2-D1FD-B66B6124DD50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A404496-6C05-0E70-84AC-6210790258F1}"/>
              </a:ext>
            </a:extLst>
          </p:cNvPr>
          <p:cNvSpPr txBox="1">
            <a:spLocks/>
          </p:cNvSpPr>
          <p:nvPr/>
        </p:nvSpPr>
        <p:spPr>
          <a:xfrm>
            <a:off x="61094" y="534213"/>
            <a:ext cx="4297412" cy="9581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AS-IS (Tiger Looper)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Monolithic Interface</a:t>
            </a:r>
            <a:endParaRPr lang="en-US" sz="1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Tiger Looper uses Android style: message, handler, looper.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Provide only Message/Handler programming style (Single programming paradigm only)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Below steps depicts user code example using Tiger Looper. 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(1) Create/setup handler. Handler need specific implementation from abstract Handler class.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(2) User code create message and send it to specific handler.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(3) Event loop processes messages in queue and invokes registered handler.</a:t>
            </a:r>
          </a:p>
          <a:p>
            <a:pPr>
              <a:buFontTx/>
              <a:buChar char="-"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B95D2885-B29A-6F43-A389-F86EEDC6EBBD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28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DF5BD971-EC17-0C01-9F0E-98043307C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623707"/>
              </p:ext>
            </p:extLst>
          </p:nvPr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635" y="1708365"/>
            <a:ext cx="5005658" cy="34060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48" y="5114441"/>
            <a:ext cx="1466471" cy="5977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9C8EEB4-0EA1-6F9C-937F-440974FEC218}"/>
              </a:ext>
            </a:extLst>
          </p:cNvPr>
          <p:cNvSpPr txBox="1"/>
          <p:nvPr/>
        </p:nvSpPr>
        <p:spPr>
          <a:xfrm>
            <a:off x="7077292" y="5875132"/>
            <a:ext cx="22188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22: Module view of Tiger Looper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C20E6321-63FD-23F8-8A31-20A92480F2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28" y="3035686"/>
            <a:ext cx="3127401" cy="35032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83359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7F18AD-0B63-EC4C-2038-7B2D0708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B23C7F-B948-CBAA-D79C-9E9AAB5075C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36212D7-F041-B66D-A3FE-0A2D08975689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777158C8-EC38-DD68-9D5F-37E39C1DDBD5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A78B4964-5CA2-3EE5-516B-DE646DE80788}"/>
              </a:ext>
            </a:extLst>
          </p:cNvPr>
          <p:cNvSpPr txBox="1">
            <a:spLocks/>
          </p:cNvSpPr>
          <p:nvPr/>
        </p:nvSpPr>
        <p:spPr>
          <a:xfrm>
            <a:off x="61094" y="534213"/>
            <a:ext cx="4297412" cy="132781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 Facade Pattern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SW Task uses Façade pattern to make simple for user code.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It provides </a:t>
            </a:r>
            <a:r>
              <a:rPr lang="en-US" b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programming paradigms (Message, functor, promise feature).</a:t>
            </a:r>
            <a:r>
              <a:rPr lang="en-US" b="0" dirty="0">
                <a:solidFill>
                  <a:srgbClr val="FF0000"/>
                </a:solidFill>
              </a:rPr>
              <a:t/>
            </a:r>
            <a:br>
              <a:rPr lang="en-US" b="0" dirty="0">
                <a:solidFill>
                  <a:srgbClr val="FF0000"/>
                </a:solidFill>
              </a:rPr>
            </a:br>
            <a:endParaRPr lang="en-US" b="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Unified Interface: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Single entry point for all functionality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Hides complex subsystem interactions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Multiple access methods for different skill levels</a:t>
            </a:r>
          </a:p>
          <a:p>
            <a:pPr>
              <a:buFontTx/>
              <a:buChar char="-"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Message API (Android style):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Familiar Handler/Message pattern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Complete backward compatibility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Function/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Coroutines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(Modern C++):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Leverages lambdas, auto, RAII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Type-safe operations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Clean, concise syntax</a:t>
            </a:r>
          </a:p>
          <a:p>
            <a:pPr>
              <a:buFontTx/>
              <a:buChar char="-"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Promise API (JavaScript style)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Advanced async composition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Built-in exception propagation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Declarative programming model</a:t>
            </a:r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74768EF5-9F09-E56D-DA4C-BB9EF6CC072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29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0B31A42F-1D59-4DCA-0496-58C0F0633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940594"/>
              </p:ext>
            </p:extLst>
          </p:nvPr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836" y="626310"/>
            <a:ext cx="3958694" cy="5403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123" y="6037257"/>
            <a:ext cx="1402678" cy="638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9102B96-2A7E-30B0-6EF2-D5CEE48ED007}"/>
              </a:ext>
            </a:extLst>
          </p:cNvPr>
          <p:cNvSpPr txBox="1"/>
          <p:nvPr/>
        </p:nvSpPr>
        <p:spPr>
          <a:xfrm>
            <a:off x="6904763" y="6217849"/>
            <a:ext cx="20152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23: Module view of SW Task</a:t>
            </a:r>
          </a:p>
        </p:txBody>
      </p:sp>
    </p:spTree>
    <p:extLst>
      <p:ext uri="{BB962C8B-B14F-4D97-AF65-F5344CB8AC3E}">
        <p14:creationId xmlns:p14="http://schemas.microsoft.com/office/powerpoint/2010/main" val="3847060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7F18AD-0B63-EC4C-2038-7B2D0708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B23C7F-B948-CBAA-D79C-9E9AAB5075C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36212D7-F041-B66D-A3FE-0A2D08975689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777158C8-EC38-DD68-9D5F-37E39C1DDBD5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A78B4964-5CA2-3EE5-516B-DE646DE80788}"/>
              </a:ext>
            </a:extLst>
          </p:cNvPr>
          <p:cNvSpPr txBox="1">
            <a:spLocks/>
          </p:cNvSpPr>
          <p:nvPr/>
        </p:nvSpPr>
        <p:spPr>
          <a:xfrm>
            <a:off x="61094" y="534213"/>
            <a:ext cx="4297412" cy="100111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Tiger Looper vs. SW Task comparison</a:t>
            </a:r>
          </a:p>
          <a:p>
            <a:pPr marL="0" indent="0">
              <a:buNone/>
            </a:pPr>
            <a:endParaRPr lang="en-US" b="0" dirty="0"/>
          </a:p>
          <a:p>
            <a:pPr marL="0" indent="0">
              <a:buNone/>
            </a:pPr>
            <a:r>
              <a:rPr lang="en-US" dirty="0"/>
              <a:t>Tiger Looper:</a:t>
            </a:r>
          </a:p>
          <a:p>
            <a:pPr marL="0" indent="0">
              <a:buNone/>
            </a:pPr>
            <a:r>
              <a:rPr lang="en-US" b="0" dirty="0"/>
              <a:t>- </a:t>
            </a:r>
            <a:r>
              <a:rPr lang="en-US" b="0" dirty="0" err="1"/>
              <a:t>MessageQueue</a:t>
            </a:r>
            <a:r>
              <a:rPr lang="en-US" b="0" dirty="0"/>
              <a:t> only contains Message object elements</a:t>
            </a:r>
          </a:p>
          <a:p>
            <a:pPr marL="0" indent="0">
              <a:buNone/>
            </a:pPr>
            <a:r>
              <a:rPr lang="en-US" b="0" dirty="0"/>
              <a:t>- Its event loop only handle Message type.</a:t>
            </a:r>
            <a:br>
              <a:rPr lang="en-US" b="0" dirty="0"/>
            </a:br>
            <a:endParaRPr lang="en-US" b="0" dirty="0"/>
          </a:p>
          <a:p>
            <a:pPr marL="0" indent="0">
              <a:buNone/>
            </a:pPr>
            <a:r>
              <a:rPr lang="en-US" dirty="0"/>
              <a:t>SW Task:</a:t>
            </a:r>
          </a:p>
          <a:p>
            <a:pPr marL="0" indent="0">
              <a:buNone/>
            </a:pPr>
            <a:r>
              <a:rPr lang="en-US" b="0" dirty="0"/>
              <a:t>- Extend </a:t>
            </a:r>
            <a:r>
              <a:rPr lang="en-US" b="0" dirty="0" err="1"/>
              <a:t>MessageQueue</a:t>
            </a:r>
            <a:r>
              <a:rPr lang="en-US" b="0" dirty="0"/>
              <a:t> to </a:t>
            </a:r>
            <a:r>
              <a:rPr lang="en-US" b="0" dirty="0" err="1"/>
              <a:t>EventQueue</a:t>
            </a:r>
            <a:r>
              <a:rPr lang="en-US" b="0" dirty="0"/>
              <a:t>, which contains </a:t>
            </a:r>
            <a:br>
              <a:rPr lang="en-US" b="0" dirty="0"/>
            </a:br>
            <a:r>
              <a:rPr lang="en-US" b="0" dirty="0" err="1"/>
              <a:t>QueueItem</a:t>
            </a:r>
            <a:r>
              <a:rPr lang="en-US" b="0" dirty="0"/>
              <a:t> elements. </a:t>
            </a:r>
          </a:p>
          <a:p>
            <a:pPr marL="0" indent="0">
              <a:buNone/>
            </a:pPr>
            <a:r>
              <a:rPr lang="en-US" b="0" dirty="0"/>
              <a:t>- Message object and Functors (callable objects </a:t>
            </a:r>
            <a:br>
              <a:rPr lang="en-US" b="0" dirty="0"/>
            </a:br>
            <a:r>
              <a:rPr lang="en-US" b="0" dirty="0"/>
              <a:t>such as lambda, std::function, std::</a:t>
            </a:r>
            <a:r>
              <a:rPr lang="en-US" b="0" dirty="0" err="1"/>
              <a:t>packaged_task</a:t>
            </a:r>
            <a:r>
              <a:rPr lang="en-US" b="0" dirty="0"/>
              <a:t>, </a:t>
            </a:r>
            <a:br>
              <a:rPr lang="en-US" b="0" dirty="0"/>
            </a:br>
            <a:r>
              <a:rPr lang="en-US" b="0" dirty="0"/>
              <a:t>function pointer) are wrapped in </a:t>
            </a:r>
            <a:r>
              <a:rPr lang="en-US" b="0" dirty="0" err="1"/>
              <a:t>QueueItem</a:t>
            </a:r>
            <a:r>
              <a:rPr lang="en-US" b="0" dirty="0"/>
              <a:t> elements.</a:t>
            </a:r>
          </a:p>
          <a:p>
            <a:pPr marL="0" indent="0">
              <a:buNone/>
            </a:pPr>
            <a:r>
              <a:rPr lang="en-US" b="0" dirty="0"/>
              <a:t>- All types of callable objects are unified in event queue for flexible and modern C++ event loop processing.</a:t>
            </a:r>
            <a:br>
              <a:rPr lang="en-US" b="0" dirty="0"/>
            </a:br>
            <a:r>
              <a:rPr lang="en-US" b="0" dirty="0"/>
              <a:t/>
            </a:r>
            <a:br>
              <a:rPr lang="en-US" b="0" dirty="0"/>
            </a:br>
            <a:r>
              <a:rPr lang="en-US" b="0" dirty="0"/>
              <a:t>Example of new supported callable objects in SW Task below.</a:t>
            </a: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74768EF5-9F09-E56D-DA4C-BB9EF6CC072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30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0B31A42F-1D59-4DCA-0496-58C0F0633246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382" y="4863506"/>
            <a:ext cx="1458395" cy="5243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8BC0A550-1E88-FA83-EBAF-C56E9B98AD20}"/>
              </a:ext>
            </a:extLst>
          </p:cNvPr>
          <p:cNvSpPr txBox="1"/>
          <p:nvPr/>
        </p:nvSpPr>
        <p:spPr>
          <a:xfrm>
            <a:off x="8026197" y="4844129"/>
            <a:ext cx="29706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24: comparison of SW Task and Tiger Looper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346E0CA-1A59-0431-6E56-B91EDBAF2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8506" y="641621"/>
            <a:ext cx="7820244" cy="41573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97AFC576-8B08-91EA-BAB1-F5F0CE37A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94" y="4264233"/>
            <a:ext cx="3172536" cy="18656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3802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37F18AD-0B63-EC4C-2038-7B2D07089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B23C7F-B948-CBAA-D79C-9E9AAB5075C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36212D7-F041-B66D-A3FE-0A2D08975689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777158C8-EC38-DD68-9D5F-37E39C1DDBD5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A78B4964-5CA2-3EE5-516B-DE646DE80788}"/>
              </a:ext>
            </a:extLst>
          </p:cNvPr>
          <p:cNvSpPr txBox="1">
            <a:spLocks/>
          </p:cNvSpPr>
          <p:nvPr/>
        </p:nvSpPr>
        <p:spPr>
          <a:xfrm>
            <a:off x="61093" y="534213"/>
            <a:ext cx="4758531" cy="8455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Simple code example for using SW Task framework for different programming paradigms. User code is C++, support different style/paradigms by other programming languages.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74768EF5-9F09-E56D-DA4C-BB9EF6CC072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31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0B31A42F-1D59-4DCA-0496-58C0F0633246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3" y="1560744"/>
            <a:ext cx="2760217" cy="33217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047" y="1560744"/>
            <a:ext cx="2747206" cy="3321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242" y="1560744"/>
            <a:ext cx="3412665" cy="33217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16844" y="4902490"/>
            <a:ext cx="1326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Android-style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9375" y="4990777"/>
            <a:ext cx="1593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Modern C++ style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2445" y="4902490"/>
            <a:ext cx="14406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JavaScript-style user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B82BD452-EE4B-65C0-AF37-5C6E5EFF247F}"/>
              </a:ext>
            </a:extLst>
          </p:cNvPr>
          <p:cNvSpPr txBox="1"/>
          <p:nvPr/>
        </p:nvSpPr>
        <p:spPr>
          <a:xfrm>
            <a:off x="4710050" y="6046788"/>
            <a:ext cx="32015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25: Different programming paradigms in SW Task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848C6445-F480-73C9-C12E-DA8B39E74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1990" y="1560744"/>
            <a:ext cx="2838943" cy="3321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9087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5885737-F482-8F07-4E7C-74FF7443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CB0BA13-B8C6-A761-610D-7DC3DBDF68A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E29EF90-B7D8-8791-FFBE-036017587100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0E62B5FC-C66B-F2B6-010A-1F75535D3B52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3ACFE800-7B84-400E-3B1D-070D7FB2F364}"/>
              </a:ext>
            </a:extLst>
          </p:cNvPr>
          <p:cNvSpPr txBox="1">
            <a:spLocks/>
          </p:cNvSpPr>
          <p:nvPr/>
        </p:nvSpPr>
        <p:spPr>
          <a:xfrm>
            <a:off x="61093" y="534213"/>
            <a:ext cx="4758531" cy="85953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en-US" b="0" dirty="0"/>
              <a:t>SW Task - API Reference Tables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9EF7F17D-A194-A1C7-0251-BBBC3246CB23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32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93D24642-4C0C-043D-2E55-91C319F276D6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CE62966-F480-263F-D805-76A45196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26" y="1461783"/>
            <a:ext cx="7772400" cy="4111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45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636A080-7FC0-831F-DAAE-92687779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65A257-A189-A6C6-9D7C-A22AC65B28A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F12952C-281C-94A8-BF5B-442536CF8CC9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28055E36-8E7D-B97D-EF89-6872C47A9C4A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5FE5874B-5123-040F-F6B4-BF078E214FF3}"/>
              </a:ext>
            </a:extLst>
          </p:cNvPr>
          <p:cNvSpPr txBox="1">
            <a:spLocks/>
          </p:cNvSpPr>
          <p:nvPr/>
        </p:nvSpPr>
        <p:spPr>
          <a:xfrm>
            <a:off x="61093" y="534213"/>
            <a:ext cx="4758531" cy="85953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pPr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q"/>
            </a:pPr>
            <a:r>
              <a:rPr lang="en-US" b="0" dirty="0"/>
              <a:t>SW Task - API Reference Tables</a:t>
            </a: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endParaRPr lang="en-US" sz="14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B0AB6A04-E65D-C34F-B03E-5887AE88E715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33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5C7C2A4F-A99A-FFB8-B34D-F987C1A01477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6EEF3AF5-E5BE-ABB9-734F-B49C5BED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674" y="1198581"/>
            <a:ext cx="7772400" cy="500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51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3E41BDB-FB35-68EE-9000-0CCA60CCF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4F6C00C-F24C-1A07-8C77-4E672D51739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55B12AA-B825-9BBF-C9D1-DC06DAEAA9A7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8362C0E2-D834-FD76-4978-34406D4C9520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291BDE80-7124-54F8-38D6-69B19F0CE263}"/>
              </a:ext>
            </a:extLst>
          </p:cNvPr>
          <p:cNvSpPr txBox="1">
            <a:spLocks/>
          </p:cNvSpPr>
          <p:nvPr/>
        </p:nvSpPr>
        <p:spPr>
          <a:xfrm>
            <a:off x="61093" y="534213"/>
            <a:ext cx="4758531" cy="78459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b="0" dirty="0"/>
              <a:t>SW Task - API Reference Tables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E9CF2649-D1D5-4B18-DD93-B0CB20386F89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34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275C071A-8B2C-2EF1-9DFB-DCA1BD13C973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AEB05E16-19FE-A22A-404C-96FC1CA4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442" y="1103790"/>
            <a:ext cx="8929608" cy="388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46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4A23A6A-C18E-6837-2299-FFE77922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27CEB6-09A0-87A0-2107-CD53C7D61A4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C03BBED-20E3-EBE4-DB90-675D02077BF4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 </a:t>
            </a:r>
            <a:r>
              <a:rPr kumimoji="1" lang="en-US" altLang="ko-KR" sz="2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Usability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24DFBF1B-7A19-718A-FD0B-4691E442790A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 dirty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 dirty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8F56F98B-C016-BD12-5890-41419C6123D5}"/>
              </a:ext>
            </a:extLst>
          </p:cNvPr>
          <p:cNvSpPr txBox="1">
            <a:spLocks/>
          </p:cNvSpPr>
          <p:nvPr/>
        </p:nvSpPr>
        <p:spPr>
          <a:xfrm>
            <a:off x="61093" y="534213"/>
            <a:ext cx="4758531" cy="78459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b="0" dirty="0"/>
              <a:t>SW Task - API Reference Tables</a:t>
            </a:r>
          </a:p>
          <a:p>
            <a:endParaRPr lang="en-US" b="0" dirty="0"/>
          </a:p>
          <a:p>
            <a:pPr marL="0" indent="0">
              <a:buNone/>
            </a:pPr>
            <a:r>
              <a:rPr lang="en-US" b="0" dirty="0"/>
              <a:t/>
            </a:r>
            <a:br>
              <a:rPr lang="en-US" b="0" dirty="0"/>
            </a:br>
            <a:endParaRPr lang="en-US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6BF59DD7-EF72-FE8E-5B9C-FF27E05E4C7B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35</a:t>
            </a:fld>
            <a:endParaRPr lang="x-none"/>
          </a:p>
        </p:txBody>
      </p:sp>
      <p:graphicFrame>
        <p:nvGraphicFramePr>
          <p:cNvPr id="5" name="표 36">
            <a:extLst>
              <a:ext uri="{FF2B5EF4-FFF2-40B4-BE49-F238E27FC236}">
                <a16:creationId xmlns="" xmlns:a16="http://schemas.microsoft.com/office/drawing/2014/main" id="{471A1092-A759-7D96-0F4C-384D54854A9A}"/>
              </a:ext>
            </a:extLst>
          </p:cNvPr>
          <p:cNvGraphicFramePr>
            <a:graphicFrameLocks noGrp="1"/>
          </p:cNvGraphicFramePr>
          <p:nvPr/>
        </p:nvGraphicFramePr>
        <p:xfrm>
          <a:off x="7363737" y="30519"/>
          <a:ext cx="4779730" cy="457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QA-03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should h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ide system complexity and support multiple programming paradigms.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5AA0E0-0A06-20EC-8E49-738F87661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766" y="532849"/>
            <a:ext cx="6823621" cy="604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96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05385C7-D5CC-53B3-DEE1-06F124C3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E3D99F-4C94-1BB5-3A0D-213C75A07A4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62D46A-084D-838B-A4A1-CC1111A8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36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8C09AD-1D35-2F09-6FC0-6EC9FD2DACDB}"/>
              </a:ext>
            </a:extLst>
          </p:cNvPr>
          <p:cNvSpPr txBox="1"/>
          <p:nvPr/>
        </p:nvSpPr>
        <p:spPr>
          <a:xfrm>
            <a:off x="335360" y="98395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.3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</a:t>
            </a:r>
            <a:r>
              <a:rPr kumimoji="1"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7070C67-8539-4474-8329-AE144D023FD8}"/>
              </a:ext>
            </a:extLst>
          </p:cNvPr>
          <p:cNvSpPr txBox="1"/>
          <p:nvPr/>
        </p:nvSpPr>
        <p:spPr>
          <a:xfrm>
            <a:off x="498185" y="656692"/>
            <a:ext cx="3878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Architectural Decision</a:t>
            </a:r>
          </a:p>
          <a:p>
            <a:r>
              <a:rPr lang="en-US" sz="16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design of Timer in SW Task shows that it satisfies QA-03:</a:t>
            </a:r>
            <a:b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should hide system complexity and support multiple programming paradigms.</a:t>
            </a:r>
          </a:p>
          <a:p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(Useability)</a:t>
            </a:r>
          </a:p>
          <a:p>
            <a:endParaRPr lang="x-none" sz="1200" b="1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x-none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20CC301D-8105-4342-5A44-F62DC6BED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060445"/>
              </p:ext>
            </p:extLst>
          </p:nvPr>
        </p:nvGraphicFramePr>
        <p:xfrm>
          <a:off x="4479984" y="699414"/>
          <a:ext cx="7602865" cy="54406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8311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3110601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2993953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</a:tblGrid>
              <a:tr h="65873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Alternatives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SW Task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Tiger Looper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55351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Unified interface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Single entry point for all functionality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Facade pattern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hides subsystem complexity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Multiple access methods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for different skill levels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Familiar Message API for Android style 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(backward compatibility)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Modern Function API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Supports lambdas, auto, RAII, type-safe operations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Promise API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Advanced async composition, exception propagation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Clean, concise syntax; declarative programming model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Simple, monolithic interface: Easy to understand for basic use cases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Familiar Handler/Message pattern for Android style developers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1672993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More complex API may require documentation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Slightly higher learning curve for new users unfamiliar with async patterns</a:t>
                      </a:r>
                    </a:p>
                    <a:p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Only supports single programming paradigm (Message/Handler)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No flexibility or choice for developers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No support for modern C++ features (lambdas, RAII, async)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-All developers forced to use same pattern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200" b="0" dirty="0"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6844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</a:tbl>
          </a:graphicData>
        </a:graphic>
      </p:graphicFrame>
      <p:pic>
        <p:nvPicPr>
          <p:cNvPr id="7" name="Picture 2" descr="체크 표시 클립 아트. 무료 다운로드. | Creazilla">
            <a:extLst>
              <a:ext uri="{FF2B5EF4-FFF2-40B4-BE49-F238E27FC236}">
                <a16:creationId xmlns="" xmlns:a16="http://schemas.microsoft.com/office/drawing/2014/main" id="{EC82293C-C790-B791-0960-5537B66FF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529" y="5877783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BE4E24EB-E634-1757-2006-8CAE8BC7CA70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94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1CD02EC-11C6-C914-88BE-4321425B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24D30C-B840-E769-CCDA-B8680C9E86A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C06DDBC-1239-DC1C-1A6C-8BFB5DF611BF}"/>
              </a:ext>
            </a:extLst>
          </p:cNvPr>
          <p:cNvSpPr txBox="1"/>
          <p:nvPr/>
        </p:nvSpPr>
        <p:spPr>
          <a:xfrm>
            <a:off x="-1" y="-19799"/>
            <a:ext cx="6823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noProof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</a:t>
            </a: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.4 Architectural Decision 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– Reusability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B58C8623-4BDD-BA28-D5DC-A94C9E5B0E83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0" name="텍스트 개체 틀 3">
            <a:extLst>
              <a:ext uri="{FF2B5EF4-FFF2-40B4-BE49-F238E27FC236}">
                <a16:creationId xmlns="" xmlns:a16="http://schemas.microsoft.com/office/drawing/2014/main" id="{968EAFCF-37CD-C9C4-5A88-6FEA66E81C70}"/>
              </a:ext>
            </a:extLst>
          </p:cNvPr>
          <p:cNvSpPr txBox="1">
            <a:spLocks/>
          </p:cNvSpPr>
          <p:nvPr/>
        </p:nvSpPr>
        <p:spPr>
          <a:xfrm>
            <a:off x="61094" y="534213"/>
            <a:ext cx="4297412" cy="126303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TO-BE (SW Task)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Backward Compatible Enhancement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Main purpose: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All Telematic projects in LGE use Tiger looper (Tiger framework). 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SW Task requires to reduce impact of legacy client code. All existing APIs should be kept.</a:t>
            </a:r>
          </a:p>
          <a:p>
            <a:pPr marL="0" indent="0">
              <a:buNone/>
            </a:pPr>
            <a:endParaRPr lang="en-US" sz="14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Legacy API Preservation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All Tiger APIs preserved unchanged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Existing code compiles without modifications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Modern API Addition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Function and Promise APIs added to same classes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Template-based type safety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RAII resource management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Unified Processing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Message and Function use same event queue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Legacy and modern code coexist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Zero risk migration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Design of backward compatible enhancement is shown in Fig 22.</a:t>
            </a:r>
          </a:p>
          <a:p>
            <a:pPr marL="0" indent="0">
              <a:buNone/>
            </a:pP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b="0" dirty="0"/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endParaRPr lang="en-US" sz="1000" dirty="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endParaRPr lang="x-none" sz="1400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</a:pP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latin typeface="LG Smart UI SemiBold" panose="020B0700000101010101" pitchFamily="50" charset="-127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="" xmlns:a16="http://schemas.microsoft.com/office/drawing/2014/main" id="{2A7E68C4-B203-9420-CC00-4BA045FC3549}"/>
              </a:ext>
            </a:extLst>
          </p:cNvPr>
          <p:cNvSpPr txBox="1">
            <a:spLocks/>
          </p:cNvSpPr>
          <p:nvPr/>
        </p:nvSpPr>
        <p:spPr>
          <a:xfrm>
            <a:off x="4464635" y="65011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x-non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BEF5734-750F-6F44-80C1-1680C2239495}" type="slidenum">
              <a:rPr lang="x-none" smtClean="0"/>
              <a:pPr/>
              <a:t>37</a:t>
            </a:fld>
            <a:endParaRPr lang="x-none"/>
          </a:p>
        </p:txBody>
      </p:sp>
      <p:graphicFrame>
        <p:nvGraphicFramePr>
          <p:cNvPr id="6" name="표 36">
            <a:extLst>
              <a:ext uri="{FF2B5EF4-FFF2-40B4-BE49-F238E27FC236}">
                <a16:creationId xmlns="" xmlns:a16="http://schemas.microsoft.com/office/drawing/2014/main" id="{090819F2-2DE5-333A-161E-D9D1E70C4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24740"/>
              </p:ext>
            </p:extLst>
          </p:nvPr>
        </p:nvGraphicFramePr>
        <p:xfrm>
          <a:off x="7363737" y="30519"/>
          <a:ext cx="4779730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QA-04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should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provide b</a:t>
                      </a:r>
                      <a:r>
                        <a:rPr lang="en-US" sz="1200" b="0" kern="120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ackward compatible API enhancement</a:t>
                      </a:r>
                      <a:r>
                        <a:rPr lang="en-US" sz="1200" b="0" kern="1200" baseline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 Tiger Looper. Legacy client source code using Tiger Looper must not be impacted.</a:t>
                      </a:r>
                      <a:endParaRPr lang="en-US" sz="1200" b="0" kern="120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066" y="802514"/>
            <a:ext cx="6582387" cy="57363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122" y="1095940"/>
            <a:ext cx="2181421" cy="686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6B82835-7AF2-A11C-A14A-AC52B736CA0F}"/>
              </a:ext>
            </a:extLst>
          </p:cNvPr>
          <p:cNvSpPr txBox="1"/>
          <p:nvPr/>
        </p:nvSpPr>
        <p:spPr>
          <a:xfrm>
            <a:off x="7650906" y="6501136"/>
            <a:ext cx="3206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Fig 26: C&amp;C diagram for backward compatible design</a:t>
            </a:r>
          </a:p>
        </p:txBody>
      </p:sp>
    </p:spTree>
    <p:extLst>
      <p:ext uri="{BB962C8B-B14F-4D97-AF65-F5344CB8AC3E}">
        <p14:creationId xmlns:p14="http://schemas.microsoft.com/office/powerpoint/2010/main" val="2967029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D3CF8BB-D3BE-C10C-2D7A-31EF760F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3A3A0A-A372-082F-1657-A9D6565C043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139BC0D-40EA-11BB-F338-B8A18B86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F5734-750F-6F44-80C1-1680C2239495}" type="slidenum">
              <a:rPr lang="x-none" smtClean="0"/>
              <a:t>38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7B04515-313B-9B7E-8980-E038DD793DA8}"/>
              </a:ext>
            </a:extLst>
          </p:cNvPr>
          <p:cNvSpPr txBox="1"/>
          <p:nvPr/>
        </p:nvSpPr>
        <p:spPr>
          <a:xfrm>
            <a:off x="335360" y="98395"/>
            <a:ext cx="5220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 latinLnBrk="1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5.4 Architectural Decision</a:t>
            </a:r>
            <a:r>
              <a:rPr kumimoji="1" lang="en-US" altLang="ko-KR" sz="2000" b="1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- </a:t>
            </a:r>
            <a:r>
              <a:rPr kumimoji="1"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Reusability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6" name="표 1">
            <a:extLst>
              <a:ext uri="{FF2B5EF4-FFF2-40B4-BE49-F238E27FC236}">
                <a16:creationId xmlns="" xmlns:a16="http://schemas.microsoft.com/office/drawing/2014/main" id="{0678ADC0-984F-3B82-F0B2-0D7EBF872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063555"/>
              </p:ext>
            </p:extLst>
          </p:nvPr>
        </p:nvGraphicFramePr>
        <p:xfrm>
          <a:off x="4209328" y="1196611"/>
          <a:ext cx="7884543" cy="452441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3822">
                  <a:extLst>
                    <a:ext uri="{9D8B030D-6E8A-4147-A177-3AD203B41FA5}">
                      <a16:colId xmlns="" xmlns:a16="http://schemas.microsoft.com/office/drawing/2014/main" val="1197659203"/>
                    </a:ext>
                  </a:extLst>
                </a:gridCol>
                <a:gridCol w="3225845">
                  <a:extLst>
                    <a:ext uri="{9D8B030D-6E8A-4147-A177-3AD203B41FA5}">
                      <a16:colId xmlns="" xmlns:a16="http://schemas.microsoft.com/office/drawing/2014/main" val="2602705436"/>
                    </a:ext>
                  </a:extLst>
                </a:gridCol>
                <a:gridCol w="3104876">
                  <a:extLst>
                    <a:ext uri="{9D8B030D-6E8A-4147-A177-3AD203B41FA5}">
                      <a16:colId xmlns="" xmlns:a16="http://schemas.microsoft.com/office/drawing/2014/main" val="1629548476"/>
                    </a:ext>
                  </a:extLst>
                </a:gridCol>
              </a:tblGrid>
              <a:tr h="66298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Alternatives design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SW Task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Tiger Looper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2402582"/>
                  </a:ext>
                </a:extLst>
              </a:tr>
              <a:tr h="221551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Pros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Legacy API preserved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Existing Tiger APIs remain unchanged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Modern API addition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Function and Promise APIs added to same classes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RAII resource management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Unified processing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: Message and Function use same queue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Legacy and modern code coexist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Zero risk migration for existing projects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Simple, stable legacy API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Easy reuse for projects already using Handler/Message pattern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6971679"/>
                  </a:ext>
                </a:extLst>
              </a:tr>
              <a:tr h="132930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Increased codebase complexity to support both legacy and modern APIs</a:t>
                      </a:r>
                    </a:p>
                    <a:p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No support for modern C++ features (lambdas, promises, RAII)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Difficult to extend or migrate to new programming paradigms</a:t>
                      </a: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- Only one programming style supported; limited flexibility for future reuse</a:t>
                      </a:r>
                    </a:p>
                    <a:p>
                      <a:pPr marL="171450" marR="0" lvl="0" indent="-17145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59004871"/>
                  </a:ext>
                </a:extLst>
              </a:tr>
              <a:tr h="27017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Decision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Selected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Rejected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78857693"/>
                  </a:ext>
                </a:extLst>
              </a:tr>
            </a:tbl>
          </a:graphicData>
        </a:graphic>
      </p:graphicFrame>
      <p:pic>
        <p:nvPicPr>
          <p:cNvPr id="7" name="Picture 2" descr="체크 표시 클립 아트. 무료 다운로드. | Creazilla">
            <a:extLst>
              <a:ext uri="{FF2B5EF4-FFF2-40B4-BE49-F238E27FC236}">
                <a16:creationId xmlns="" xmlns:a16="http://schemas.microsoft.com/office/drawing/2014/main" id="{A6FAE9FB-3B87-E199-314A-37D70E237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688" y="5445365"/>
            <a:ext cx="216024" cy="2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2">
            <a:extLst>
              <a:ext uri="{FF2B5EF4-FFF2-40B4-BE49-F238E27FC236}">
                <a16:creationId xmlns="" xmlns:a16="http://schemas.microsoft.com/office/drawing/2014/main" id="{825C93C3-EB25-36F1-0246-67181CE824D4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graphicFrame>
        <p:nvGraphicFramePr>
          <p:cNvPr id="9" name="표 36">
            <a:extLst>
              <a:ext uri="{FF2B5EF4-FFF2-40B4-BE49-F238E27FC236}">
                <a16:creationId xmlns="" xmlns:a16="http://schemas.microsoft.com/office/drawing/2014/main" id="{42435B9A-5143-C637-57B6-30F599F74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198747"/>
              </p:ext>
            </p:extLst>
          </p:nvPr>
        </p:nvGraphicFramePr>
        <p:xfrm>
          <a:off x="7363737" y="30519"/>
          <a:ext cx="4779730" cy="64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4048">
                  <a:extLst>
                    <a:ext uri="{9D8B030D-6E8A-4147-A177-3AD203B41FA5}">
                      <a16:colId xmlns="" xmlns:a16="http://schemas.microsoft.com/office/drawing/2014/main" val="1957302077"/>
                    </a:ext>
                  </a:extLst>
                </a:gridCol>
                <a:gridCol w="4085682">
                  <a:extLst>
                    <a:ext uri="{9D8B030D-6E8A-4147-A177-3AD203B41FA5}">
                      <a16:colId xmlns="" xmlns:a16="http://schemas.microsoft.com/office/drawing/2014/main" val="508759771"/>
                    </a:ext>
                  </a:extLst>
                </a:gridCol>
              </a:tblGrid>
              <a:tr h="385839">
                <a:tc>
                  <a:txBody>
                    <a:bodyPr/>
                    <a:lstStyle/>
                    <a:p>
                      <a:r>
                        <a:rPr lang="en-US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QA-04</a:t>
                      </a:r>
                      <a:r>
                        <a:rPr lang="x-none" sz="1200" b="0" kern="12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LG Smart UI SemiBold" panose="020B0700000101010101" pitchFamily="50" charset="-127"/>
                          <a:cs typeface="Arial" panose="020B0604020202020204" pitchFamily="34" charset="0"/>
                        </a:rPr>
                        <a:t> </a:t>
                      </a:r>
                      <a:endParaRPr lang="en-US" sz="1200" b="0" kern="120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LG Smart UI SemiBold" panose="020B0700000101010101" pitchFamily="50" charset="-127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Framework should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provide b</a:t>
                      </a:r>
                      <a:r>
                        <a:rPr lang="en-US" sz="1200" b="0" kern="12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ackward compatible API enhancement</a:t>
                      </a:r>
                      <a:r>
                        <a:rPr lang="en-US" sz="1200" b="0" kern="1200" baseline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for Tiger Looper. Legacy client source code using Tiger Looper must not be impacted.</a:t>
                      </a:r>
                      <a:endParaRPr lang="en-US" sz="1200" b="0" kern="12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223991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81B2D14-05B3-1CD1-9A73-55F68F0F23EE}"/>
              </a:ext>
            </a:extLst>
          </p:cNvPr>
          <p:cNvSpPr txBox="1"/>
          <p:nvPr/>
        </p:nvSpPr>
        <p:spPr>
          <a:xfrm>
            <a:off x="98129" y="754459"/>
            <a:ext cx="38782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en-US" sz="1600" b="1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Architectural Decision</a:t>
            </a:r>
          </a:p>
          <a:p>
            <a:r>
              <a:rPr lang="en-US" sz="16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  <a:t>The design in SW Task shows that it satisfies QA-04:</a:t>
            </a:r>
            <a:br>
              <a:rPr lang="en-US" sz="1200" dirty="0">
                <a:latin typeface="Arial" panose="020B0604020202020204" pitchFamily="34" charset="0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Framework should provide backward compatible API enhancement for Tiger Looper. Legacy client source code using Tiger Looper must not be impacted (Reusability)</a:t>
            </a:r>
          </a:p>
          <a:p>
            <a:endParaRPr lang="x-none" sz="1200" b="1">
              <a:latin typeface="Arial" panose="020B0604020202020204" pitchFamily="34" charset="0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endParaRPr lang="x-none" sz="12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endParaRPr lang="x-none" sz="160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36594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A04F02E-579D-059F-8E3A-6360400138B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CA7F85-B2BB-A1A8-4252-B9D8F36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39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E93DA0E-E092-9640-1E3E-7FBC6C04E7C6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6. Validation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="" xmlns:a16="http://schemas.microsoft.com/office/drawing/2014/main" id="{41E0D2BF-0DC6-EAAD-3619-7B5E6BB47CFB}"/>
              </a:ext>
            </a:extLst>
          </p:cNvPr>
          <p:cNvSpPr txBox="1">
            <a:spLocks/>
          </p:cNvSpPr>
          <p:nvPr/>
        </p:nvSpPr>
        <p:spPr>
          <a:xfrm>
            <a:off x="438485" y="672117"/>
            <a:ext cx="11418155" cy="2347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Measure performance for SW Task vs. Tiger Looper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="" xmlns:a16="http://schemas.microsoft.com/office/drawing/2014/main" id="{0FA89FB1-C4D9-73C2-74C4-C8E6112C3A41}"/>
              </a:ext>
            </a:extLst>
          </p:cNvPr>
          <p:cNvSpPr txBox="1">
            <a:spLocks/>
          </p:cNvSpPr>
          <p:nvPr/>
        </p:nvSpPr>
        <p:spPr>
          <a:xfrm>
            <a:off x="438485" y="906861"/>
            <a:ext cx="4977278" cy="73758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sz="13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Experimental setup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Test scenario: 5 heavy CPU tasks + 5 normal tasks executed simultaneously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Measurement: End-to-end task completion time (post → complete)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Environment: Same hardware/OS conditions for both frameworks</a:t>
            </a:r>
            <a:b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Result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SW Task Framework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Heavy tasks execute on dedicated CPU-bound task thread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Normal tasks execute on main event loop thread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Parallel execution prevents blocking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Consistent ~500ms regardless of task mix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Tiger Looper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All tasks execute sequentially on single event thread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Heavy tasks block subsequent task processing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FIFO queuing causes cumulative delays</a:t>
            </a:r>
          </a:p>
          <a:p>
            <a:pPr marL="0" indent="0">
              <a:buNone/>
            </a:pP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- Linear time increase: 526ms → 1247ms → 2874ms</a:t>
            </a:r>
            <a:b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QA-01 Compliance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x-none" b="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SW Task meets requirement: All tasks complete under 1 second</a:t>
            </a:r>
          </a:p>
          <a:p>
            <a:pPr marL="0" indent="0">
              <a:buNone/>
            </a:pPr>
            <a:r>
              <a:rPr lang="x-none" b="0" dirty="0"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b="0" dirty="0">
                <a:latin typeface="Arial" panose="020B0604020202020204" pitchFamily="34" charset="0"/>
                <a:cs typeface="Arial" panose="020B0604020202020204" pitchFamily="34" charset="0"/>
              </a:rPr>
              <a:t>Tiger Looper fails: Tasks exceed 1s with 2.87s maximum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endParaRPr lang="en-US" altLang="ko-KR" sz="130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8288" algn="just">
              <a:buFont typeface="Arial" panose="020B0604020202020204" pitchFamily="34" charset="0"/>
              <a:buChar char="•"/>
              <a:tabLst>
                <a:tab pos="261938" algn="l"/>
              </a:tabLst>
            </a:pPr>
            <a:endParaRPr lang="x-none" b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CE0D37FF-B6F6-B6EE-7424-FB633D7311B0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106A37BD-D7A8-B51F-EC5B-56A6F4FD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690" y="1378955"/>
            <a:ext cx="6423440" cy="428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45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0CA7F85-B2BB-A1A8-4252-B9D8F36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40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E93DA0E-E092-9640-1E3E-7FBC6C04E7C6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6. Validation</a:t>
            </a:r>
            <a:endParaRPr kumimoji="1" lang="en-US" altLang="ko-KR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="" xmlns:a16="http://schemas.microsoft.com/office/drawing/2014/main" id="{41E0D2BF-0DC6-EAAD-3619-7B5E6BB47CFB}"/>
              </a:ext>
            </a:extLst>
          </p:cNvPr>
          <p:cNvSpPr txBox="1">
            <a:spLocks/>
          </p:cNvSpPr>
          <p:nvPr/>
        </p:nvSpPr>
        <p:spPr>
          <a:xfrm>
            <a:off x="438485" y="581090"/>
            <a:ext cx="11418155" cy="23474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Timer operation comparison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="" xmlns:a16="http://schemas.microsoft.com/office/drawing/2014/main" id="{0FA89FB1-C4D9-73C2-74C4-C8E6112C3A41}"/>
              </a:ext>
            </a:extLst>
          </p:cNvPr>
          <p:cNvSpPr txBox="1">
            <a:spLocks/>
          </p:cNvSpPr>
          <p:nvPr/>
        </p:nvSpPr>
        <p:spPr>
          <a:xfrm>
            <a:off x="438485" y="938957"/>
            <a:ext cx="5309064" cy="58081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sz="13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Experimental setup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Load</a:t>
            </a: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1000 one-shot timers + 50 periodic timers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Duration</a:t>
            </a: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30 seconds continuous operation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Metrics</a:t>
            </a:r>
            <a: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CPU usage (%), RAM usage (RSS, MB), Resource efficiency</a:t>
            </a:r>
            <a:br>
              <a:rPr lang="en-US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sz="13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Memory Efficiency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SW Task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Flat memory usage (~3.8MB) - optimized timer data structures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Tiger Looper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Step growth pattern (3.8→4.4→4.9MB) - memory leaks or inefficient allocation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- </a:t>
            </a: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Result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SW Task uses 29% less memory with stable consumption</a:t>
            </a:r>
            <a:b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sz="13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CPU Efficiency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SW Task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Consistent low usage with smaller spikes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Tiger Looper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Higher peak CPU (17.8% vs 12.6%) - inefficient timer handling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Result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SW Task delivers 41% lower CPU spikes</a:t>
            </a:r>
            <a:b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v"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13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QA-02 Compliance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✅ </a:t>
            </a: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SW Task 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Superior resource utilization with 29% memory savings and 41% lower CPU peaks</a:t>
            </a:r>
          </a:p>
          <a:p>
            <a:pPr marL="0" lvl="0" indent="0">
              <a:lnSpc>
                <a:spcPct val="120000"/>
              </a:lnSpc>
              <a:spcBef>
                <a:spcPct val="50000"/>
              </a:spcBef>
              <a:buNone/>
              <a:defRPr/>
            </a:pP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❌ </a:t>
            </a:r>
            <a:r>
              <a:rPr lang="en-US" altLang="ko-KR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Tiger Looper</a:t>
            </a:r>
            <a:r>
              <a:rPr lang="en-US" altLang="ko-KR" b="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: Inefficient resource usage with growing memory footprint</a:t>
            </a:r>
            <a:endParaRPr lang="en-US" altLang="ko-KR" sz="1100" b="0" dirty="0"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CE0D37FF-B6F6-B6EE-7424-FB633D7311B0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517" y="228110"/>
            <a:ext cx="4720503" cy="31311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507" y="3492707"/>
            <a:ext cx="4867737" cy="32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013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ED9FED-C154-D0B6-956D-1550362E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97DB04F-D27B-E7B1-9C50-6D3E72B29F6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007C9D8-2E21-15B4-B2A6-0A108313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41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DACA686-E0EF-A6E6-D859-45AB1D16FE68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7. Conclusion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="" xmlns:a16="http://schemas.microsoft.com/office/drawing/2014/main" id="{9DE03A2F-4721-6393-8E3C-C58A30DDAD6B}"/>
              </a:ext>
            </a:extLst>
          </p:cNvPr>
          <p:cNvSpPr txBox="1">
            <a:spLocks/>
          </p:cNvSpPr>
          <p:nvPr/>
        </p:nvSpPr>
        <p:spPr>
          <a:xfrm>
            <a:off x="335360" y="833284"/>
            <a:ext cx="5281670" cy="44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lvl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q"/>
              <a:defRPr/>
            </a:pPr>
            <a: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SW Task Framework: advantages over Tiger Looper</a:t>
            </a:r>
            <a:br>
              <a:rPr lang="en-US" altLang="ko-KR" sz="1400" dirty="0"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x-none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  <a:t>Performance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Support CPU-bound task handling: non-blocking event loop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Promise-based and Coroutines-based asynchronous helper: reduce significantly response time by using effective concurrency.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  <a:t>Efficiency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Single Timer Manager thread manages unlimited timers compared to use thread-per-timer in Tiger Looper.</a:t>
            </a:r>
          </a:p>
          <a:p>
            <a:pPr marL="180975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Use Linux </a:t>
            </a:r>
            <a:r>
              <a:rPr lang="en-US" altLang="ko-KR" b="0" dirty="0" err="1">
                <a:ea typeface="LG Smart UI SemiBold" panose="020B0700000101010101" pitchFamily="50" charset="-127"/>
                <a:cs typeface="Arial" panose="020B0604020202020204" pitchFamily="34" charset="0"/>
              </a:rPr>
              <a:t>timerfd</a:t>
            </a: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 and </a:t>
            </a:r>
            <a:r>
              <a:rPr lang="en-US" altLang="ko-KR" b="0" dirty="0" err="1">
                <a:ea typeface="LG Smart UI SemiBold" panose="020B0700000101010101" pitchFamily="50" charset="-127"/>
                <a:cs typeface="Arial" panose="020B0604020202020204" pitchFamily="34" charset="0"/>
              </a:rPr>
              <a:t>epoll</a:t>
            </a: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 instead of POSIX timer in Tiger </a:t>
            </a:r>
            <a:r>
              <a:rPr lang="en-US" altLang="ko-KR" b="0" dirty="0" err="1">
                <a:ea typeface="LG Smart UI SemiBold" panose="020B0700000101010101" pitchFamily="50" charset="-127"/>
                <a:cs typeface="Arial" panose="020B0604020202020204" pitchFamily="34" charset="0"/>
              </a:rPr>
              <a:t>Looper</a:t>
            </a: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: 90% overhead reduction</a:t>
            </a:r>
          </a:p>
          <a:p>
            <a:pPr marL="352425" lvl="0" indent="-171450" algn="just">
              <a:buFontTx/>
              <a:buChar char="-"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F8A3AEAD-8BE8-1684-A50C-B4CE7FC5E1C5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8" name="텍스트 개체 틀 3">
            <a:extLst>
              <a:ext uri="{FF2B5EF4-FFF2-40B4-BE49-F238E27FC236}">
                <a16:creationId xmlns="" xmlns:a16="http://schemas.microsoft.com/office/drawing/2014/main" id="{A3BA82F2-4B9E-63F3-CCF7-36E61B249DB5}"/>
              </a:ext>
            </a:extLst>
          </p:cNvPr>
          <p:cNvSpPr txBox="1">
            <a:spLocks/>
          </p:cNvSpPr>
          <p:nvPr/>
        </p:nvSpPr>
        <p:spPr>
          <a:xfrm>
            <a:off x="5974738" y="1329034"/>
            <a:ext cx="5281670" cy="41272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  <a:t>Usability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Multi-paradigm: JS-based promise chains, Coroutines, Android-style messages, modern C++17/20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Rich API: functions Posting, Promise-based and Coroutines-based Async, Timer management, Android-style message. 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Flexible programming models: provide more API options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</a:br>
            <a:r>
              <a:rPr lang="en-US" altLang="ko-KR" sz="1400" dirty="0">
                <a:ea typeface="LG Smart UI SemiBold" panose="020B0700000101010101" pitchFamily="50" charset="-127"/>
                <a:cs typeface="Arial" panose="020B0604020202020204" pitchFamily="34" charset="0"/>
              </a:rPr>
              <a:t>Reusability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- 100% backward compatible: drop-in replacement, zero migration cost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Additive enhancement: new features don't break existing code.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>- Future-proof: Support modern C++ evolution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  <a:t/>
            </a:r>
            <a:br>
              <a:rPr lang="en-US" altLang="ko-KR" b="0" dirty="0">
                <a:ea typeface="LG Smart UI SemiBold" panose="020B0700000101010101" pitchFamily="50" charset="-127"/>
                <a:cs typeface="Arial" panose="020B0604020202020204" pitchFamily="34" charset="0"/>
              </a:rPr>
            </a:b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F0EE8366-8F0D-8112-85D6-5F4AF341C693}"/>
              </a:ext>
            </a:extLst>
          </p:cNvPr>
          <p:cNvSpPr txBox="1">
            <a:spLocks/>
          </p:cNvSpPr>
          <p:nvPr/>
        </p:nvSpPr>
        <p:spPr>
          <a:xfrm>
            <a:off x="335360" y="3908848"/>
            <a:ext cx="5281670" cy="17204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rgbClr val="FF0000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SW Task Framework outperforms Tiger Looper framework comprehensively with higher performance, efficient resource efficiency, and API flexibility, while ensuring 100% backward compatibility.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795" y="4140565"/>
            <a:ext cx="6009589" cy="214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68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735AC99-4C76-CD36-852E-9C63CD70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22DA3A-A650-7A88-90B4-3C36DD2022DA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289026B-AE49-F36A-BAA6-26FEAC88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42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32D332D-B042-A87C-D25F-73D23AA83A7A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1E310C2F-6A79-BB6B-AB72-AD04C6056E75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24FEA021-D9DE-A595-6F70-45357C29AAA8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Diagram(1)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C09FE4A-AC91-3543-56F3-BEB688ED0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887" y="1944414"/>
            <a:ext cx="3609700" cy="37289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8EAF2DB-08FA-AAE1-458F-CB20757E8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92" y="1049091"/>
            <a:ext cx="7759151" cy="530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800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02D93DB-FF71-D304-8691-92006B4F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A18DFF8-27D3-636F-9248-757DF8ABC3F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ED020F5-8443-675A-057E-21208C2D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43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B5CA6ED-28C0-FCBF-BF6F-1B2C738341C0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D6905E7D-FFFE-781F-1DBD-DB96B6599BA7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470E1382-A1B2-0810-9412-927061FF8209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Diagram(2)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2881BC9-85A1-72F0-7313-EEDBD8C0A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661" y="1269912"/>
            <a:ext cx="2068124" cy="31618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36FE33A5-8AE4-7A1F-59E2-59B3E9AAF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189" y="1223439"/>
            <a:ext cx="2274378" cy="34543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48FE9354-D162-399D-C56C-34B9856130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254" y="1223439"/>
            <a:ext cx="5062034" cy="324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18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089713E-3366-F8AA-2B6B-31163D37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B74C8B-009D-128C-096D-01748C16968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4DBB393-1496-8605-3DA3-1AC72D7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44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F078090-26AD-0D97-B975-16AAC2C653F5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C2EAB263-EE26-6C1D-F61F-7638015EE538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CAB85A6E-BFCC-A0A9-41BD-574B098BD52F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Diagram(3)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AB39385-EF4F-A045-3178-9212C9C6B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799" y="1046838"/>
            <a:ext cx="9519706" cy="509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29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B3EF178-37DE-F4CE-08DA-65166028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75E243-A0C8-D095-EF5D-AEAA717AF832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514FB01-5D3E-A420-33AA-DF68EA22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45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8D90846-C899-0D82-FE57-7E13991D82C3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0C0C83E9-118B-3C1D-20D9-4E37A86AD687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EAAC2424-00A8-ECFB-3B90-952CD172FE8E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Diagram(4)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D1B766C-AF68-CDD1-4A11-2DF43E624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04" y="1111048"/>
            <a:ext cx="11407149" cy="433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124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A1C34A5-99FB-5B12-3A6E-AC376774E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915F862-7F5F-0237-8B51-4FB7D224254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0CE3705-681C-E4D1-4012-C50432F8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BEA6F84-1CED-F235-616B-3A1198D2CDA2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30DD2A8F-8FB2-2AEA-FCD4-05A9C73F28C8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29E3C4E2-A160-E152-A802-3D58DA184F95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Diagram(5)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8C958DE-6744-C9ED-367D-BF164316E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82" y="889559"/>
            <a:ext cx="3966779" cy="48550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3BB4C78-734A-3E9E-9837-219EB2E06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305" y="716106"/>
            <a:ext cx="4503913" cy="590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5997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269510B-938A-54D6-2A74-E75A8EB0E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481B77-20AA-3D97-A03E-E654CAE6950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DF7557-72DD-A34A-8659-6DD33C33D1E3}" type="datetime1">
              <a:rPr lang="en-US" smtClean="0"/>
              <a:t>10/21/2025</a:t>
            </a:fld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DDED4C7-7921-57C2-A82A-B89FB1A7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4097" y="6577042"/>
            <a:ext cx="2743200" cy="365125"/>
          </a:xfrm>
        </p:spPr>
        <p:txBody>
          <a:bodyPr/>
          <a:lstStyle/>
          <a:p>
            <a:fld id="{9BEF5734-750F-6F44-80C1-1680C2239495}" type="slidenum">
              <a:rPr lang="x-none" smtClean="0"/>
              <a:t>47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752655A-6378-1825-B245-06B5362E44BF}"/>
              </a:ext>
            </a:extLst>
          </p:cNvPr>
          <p:cNvSpPr txBox="1"/>
          <p:nvPr/>
        </p:nvSpPr>
        <p:spPr>
          <a:xfrm>
            <a:off x="335360" y="98395"/>
            <a:ext cx="6048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dirty="0">
                <a:solidFill>
                  <a:prstClr val="black"/>
                </a:solidFill>
                <a:latin typeface="Arial" panose="020B0604020202020204" pitchFamily="34" charset="0"/>
                <a:ea typeface="LG Smart UI SemiBold" panose="020B0700000101010101" pitchFamily="50" charset="-127"/>
                <a:cs typeface="Arial" panose="020B0604020202020204" pitchFamily="34" charset="0"/>
              </a:rPr>
              <a:t>Appendix</a:t>
            </a:r>
            <a:endParaRPr kumimoji="1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9" name="직사각형 2">
            <a:extLst>
              <a:ext uri="{FF2B5EF4-FFF2-40B4-BE49-F238E27FC236}">
                <a16:creationId xmlns="" xmlns:a16="http://schemas.microsoft.com/office/drawing/2014/main" id="{E5044D51-760F-4B50-69D0-355868C9C3F6}"/>
              </a:ext>
            </a:extLst>
          </p:cNvPr>
          <p:cNvSpPr/>
          <p:nvPr/>
        </p:nvSpPr>
        <p:spPr>
          <a:xfrm>
            <a:off x="5375811" y="180980"/>
            <a:ext cx="1447810" cy="2769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ko-KR" sz="1200" b="0">
                <a:solidFill>
                  <a:prstClr val="white">
                    <a:lumMod val="75000"/>
                  </a:prstClr>
                </a:solidFill>
                <a:latin typeface="Arial Narrow" pitchFamily="34" charset="0"/>
                <a:cs typeface="Arial" pitchFamily="34" charset="0"/>
              </a:rPr>
              <a:t>LGE Internal Use Only</a:t>
            </a:r>
            <a:endParaRPr lang="ko-KR" altLang="en-US" sz="1200" b="0">
              <a:solidFill>
                <a:prstClr val="white">
                  <a:lumMod val="75000"/>
                </a:prst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텍스트 개체 틀 3">
            <a:extLst>
              <a:ext uri="{FF2B5EF4-FFF2-40B4-BE49-F238E27FC236}">
                <a16:creationId xmlns="" xmlns:a16="http://schemas.microsoft.com/office/drawing/2014/main" id="{5E8D9CA8-DBD5-F6AC-CD91-04591D777A9A}"/>
              </a:ext>
            </a:extLst>
          </p:cNvPr>
          <p:cNvSpPr txBox="1">
            <a:spLocks/>
          </p:cNvSpPr>
          <p:nvPr/>
        </p:nvSpPr>
        <p:spPr>
          <a:xfrm>
            <a:off x="244027" y="716106"/>
            <a:ext cx="5281670" cy="131420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271463" indent="-271463">
              <a:lnSpc>
                <a:spcPct val="110000"/>
              </a:lnSpc>
              <a:spcBef>
                <a:spcPts val="300"/>
              </a:spcBef>
              <a:buFont typeface="함초롬돋움" panose="020B0604000101010101" pitchFamily="50" charset="-127"/>
              <a:buChar char="❑"/>
              <a:defRPr sz="1200" b="1">
                <a:solidFill>
                  <a:srgbClr val="000000"/>
                </a:solidFill>
                <a:latin typeface="Arial Narrow"/>
                <a:ea typeface="LG스마트체 Regular"/>
              </a:defRPr>
            </a:lvl1pPr>
          </a:lstStyle>
          <a:p>
            <a:pPr marL="352425" lvl="0" indent="-171450" algn="just">
              <a:buFont typeface="Wingdings" pitchFamily="2" charset="2"/>
              <a:buChar char="v"/>
              <a:tabLst>
                <a:tab pos="261938" algn="l"/>
              </a:tabLst>
            </a:pPr>
            <a:r>
              <a:rPr lang="en-US" altLang="ko-KR" b="0" dirty="0">
                <a:solidFill>
                  <a:schemeClr val="tx1"/>
                </a:solidFill>
                <a:ea typeface="LG Smart UI SemiBold" panose="020B0700000101010101" pitchFamily="50" charset="-127"/>
                <a:cs typeface="Arial" panose="020B0604020202020204" pitchFamily="34" charset="0"/>
              </a:rPr>
              <a:t>Class Diagram(6)</a:t>
            </a:r>
          </a:p>
          <a:p>
            <a:pPr marL="180975" lvl="0" indent="0" algn="just">
              <a:buNone/>
              <a:tabLst>
                <a:tab pos="261938" algn="l"/>
              </a:tabLst>
            </a:pPr>
            <a:endParaRPr lang="en-US" altLang="ko-KR" b="0" dirty="0"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marL="449263" lvl="0" indent="-261938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  <a:buChar char="•"/>
              <a:defRPr/>
            </a:pPr>
            <a:endParaRPr lang="en-US" altLang="ko-KR" b="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§"/>
              <a:defRPr/>
            </a:pPr>
            <a:endParaRPr lang="en-US" altLang="ko-KR" sz="1100" dirty="0">
              <a:latin typeface="LG Smart UI SemiBold" panose="020B0700000101010101" pitchFamily="50" charset="-127"/>
              <a:ea typeface="LG Smart UI SemiBold" panose="020B07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2C47F39-0F00-4DA8-53A0-83EF0AB31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399" y="926979"/>
            <a:ext cx="6026432" cy="47899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052BA5A1-DF7B-056A-D4F5-5CBE41740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04" y="926979"/>
            <a:ext cx="4058116" cy="540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1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9250</TotalTime>
  <Words>3275</Words>
  <Application>Microsoft Office PowerPoint</Application>
  <PresentationFormat>Widescreen</PresentationFormat>
  <Paragraphs>913</Paragraphs>
  <Slides>47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LG Smart UI SemiBold</vt:lpstr>
      <vt:lpstr>맑은 고딕</vt:lpstr>
      <vt:lpstr>Arial</vt:lpstr>
      <vt:lpstr>Arial Narrow</vt:lpstr>
      <vt:lpstr>Calibri</vt:lpstr>
      <vt:lpstr>Calibri Light</vt:lpstr>
      <vt:lpstr>Gulim</vt:lpstr>
      <vt:lpstr>LG스마트체 Regular</vt:lpstr>
      <vt:lpstr>Times New Roman</vt:lpstr>
      <vt:lpstr>Wingdings</vt:lpstr>
      <vt:lpstr>함초롬돋움</vt:lpstr>
      <vt:lpstr>Office Theme</vt:lpstr>
      <vt:lpstr>PowerPoint Presentation</vt:lpstr>
      <vt:lpstr>PowerPoint Presentation</vt:lpstr>
      <vt:lpstr>1. Project Overview </vt:lpstr>
      <vt:lpstr>2. Project Context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Tai Tran Anh</dc:creator>
  <cp:lastModifiedBy>TAI ANH TRAN/LGEVH VS FUNCTIONAL TECHNOLOGY 3(tai2.tran@lge.com)</cp:lastModifiedBy>
  <cp:revision>335</cp:revision>
  <dcterms:created xsi:type="dcterms:W3CDTF">2023-12-04T21:41:05Z</dcterms:created>
  <dcterms:modified xsi:type="dcterms:W3CDTF">2025-10-21T07:14:30Z</dcterms:modified>
</cp:coreProperties>
</file>