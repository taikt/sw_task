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1239" r:id="rId4"/>
    <p:sldId id="1240" r:id="rId5"/>
    <p:sldId id="1242" r:id="rId6"/>
    <p:sldId id="1245" r:id="rId7"/>
    <p:sldId id="1271" r:id="rId8"/>
    <p:sldId id="1249" r:id="rId9"/>
    <p:sldId id="1280" r:id="rId10"/>
    <p:sldId id="1248" r:id="rId11"/>
    <p:sldId id="1276" r:id="rId12"/>
    <p:sldId id="1268" r:id="rId13"/>
    <p:sldId id="1291" r:id="rId14"/>
    <p:sldId id="1266" r:id="rId15"/>
    <p:sldId id="1267" r:id="rId16"/>
    <p:sldId id="1264" r:id="rId17"/>
    <p:sldId id="1265" r:id="rId18"/>
    <p:sldId id="1293" r:id="rId19"/>
    <p:sldId id="1292" r:id="rId20"/>
    <p:sldId id="1257" r:id="rId21"/>
    <p:sldId id="1252" r:id="rId22"/>
    <p:sldId id="1251" r:id="rId23"/>
    <p:sldId id="1279" r:id="rId24"/>
    <p:sldId id="1272" r:id="rId25"/>
    <p:sldId id="1273" r:id="rId26"/>
    <p:sldId id="1274" r:id="rId27"/>
    <p:sldId id="1258" r:id="rId28"/>
    <p:sldId id="1253" r:id="rId29"/>
    <p:sldId id="1254" r:id="rId30"/>
    <p:sldId id="1278" r:id="rId31"/>
    <p:sldId id="1277" r:id="rId32"/>
    <p:sldId id="1283" r:id="rId33"/>
    <p:sldId id="1294" r:id="rId34"/>
    <p:sldId id="1281" r:id="rId35"/>
    <p:sldId id="1284" r:id="rId36"/>
    <p:sldId id="1259" r:id="rId37"/>
    <p:sldId id="1255" r:id="rId38"/>
    <p:sldId id="1260" r:id="rId39"/>
    <p:sldId id="1262" r:id="rId40"/>
    <p:sldId id="1263" r:id="rId41"/>
    <p:sldId id="1285" r:id="rId42"/>
    <p:sldId id="1288" r:id="rId43"/>
    <p:sldId id="1286" r:id="rId44"/>
    <p:sldId id="1296" r:id="rId45"/>
    <p:sldId id="1295" r:id="rId46"/>
    <p:sldId id="1289" r:id="rId47"/>
    <p:sldId id="1290" r:id="rId48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AI ANH TRAN/LGEVH VS FUNCTIONAL TECHNOLOGY 3(tai2.tran@lge.com)" initials="TATVFT3" lastIdx="8" clrIdx="0">
    <p:extLst>
      <p:ext uri="{19B8F6BF-5375-455C-9EA6-DF929625EA0E}">
        <p15:presenceInfo xmlns:p15="http://schemas.microsoft.com/office/powerpoint/2012/main" userId="S-1-5-21-2543426832-1914326140-3112152631-182967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7872" autoAdjust="0"/>
  </p:normalViewPr>
  <p:slideViewPr>
    <p:cSldViewPr snapToGrid="0">
      <p:cViewPr varScale="1">
        <p:scale>
          <a:sx n="179" d="100"/>
          <a:sy n="179" d="100"/>
        </p:scale>
        <p:origin x="332" y="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405010-5649-6C4A-B265-CF4F03B2978D}" type="datetimeFigureOut">
              <a:rPr lang="x-none" smtClean="0"/>
              <a:t>10/20/2025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29DD5-7D86-A745-A39B-52ACF18C4790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9637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21946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42906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1435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4552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66862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7004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6551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86705BB-875B-8853-2B94-F6A61A72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3E71CDA-5529-C4CA-C208-1885FC0A5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7553D8-6ED9-4A82-461E-3827A03B4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8C01A53-F59A-5E50-55B8-EB1D4A207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2700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EBE86F-4E0A-5E2A-62F6-F3BC6D2E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261499A-1D7C-F3AB-FFD2-7AB3678DB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C51092E-ABAB-E271-FCC5-C8463C3FF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022151F-A5B7-2FAE-44C3-9B4F601FE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314515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61663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69988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073219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41297A0-64B2-C32B-BDB1-2ED2F0C3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01C771B-4F6A-B49F-D14F-5C52A8D9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BBE8A5-804D-5AD4-2CCD-6FA5D92DB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CD14B0D-6EAA-0871-7DC2-6707D9452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5043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A517BB-CD10-E522-AE83-296CDB5C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287A617-D345-F278-8069-DA8BA19C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935BED-4AC7-DEF2-CF32-1B0EB7074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3C5368-178D-D8BC-DBF7-B3EEEC763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15281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A88069-F964-4147-64AC-FD304E1F8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7740DBA-9E92-9363-A90D-3F5103A90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105FA73-295B-2549-9F68-E2E33050A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41DAC74-4955-FD82-FE16-1F107F7B4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00010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4533FA-5817-26ED-5C8B-CF2BF85C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409B313-FE7A-36D3-D424-7AEFF65E7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A9916BF-AD38-BC18-DE25-4734B449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F9B721F-F160-7574-C5D9-D1DB6942F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2265231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D0B8C-C951-751C-6A7A-8EFEB66D2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E2DAEAA-057A-500A-5044-F0C9CDFC7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ADF291C-451F-7A25-F8E8-FD31D375E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457159-B805-D7B4-277A-06AB86D42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429939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5D47C5-D015-18E0-A1D8-D43DE2BA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1585969-D8CA-2011-1CFA-CC625A700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61EB771-9827-B5D8-488B-0BF71D34E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D1F224-7CDA-46F5-E9F5-B5952FAB7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648472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1A9DBE0-C504-48BB-AE42-079B2956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58766B3-8E10-7192-B425-A0A3A87EE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15A2C4E-B8FF-B459-37FE-504180ECD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1D7AD0E-2C6B-1F33-8274-6DFB0D778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0289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31630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3040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840629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738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19818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0F6FC4-B1BA-2A4E-A131-8A1ABAAB7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D4E84C-08CA-B31A-EC05-0347F4462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017C015-589B-437D-9082-36085DEB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4D98A60-74E5-DCB5-85BA-2FE0FDD62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91002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307273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322286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063049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5F6628-AF20-B348-19B1-7DF09E88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B117CF8-F801-0659-0BDA-4D6AB8679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8826758-5CF3-DE4B-263E-F6E918607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CACA613-4D45-B3F2-0865-962810CC05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88034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88B901-4EA3-3D2C-C31F-B43FF62DA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2B00C90-86C7-3FB1-83F2-B6F9C2A210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4B981-8D14-5096-55BC-B7EDF23F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D19CDB5-1CD8-9BCF-2D65-6FE1E4F41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428907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DD0D773-ECA4-CDC3-806E-E60D67D2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1946B79-909B-172B-8E8D-FFEFFE9C6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A2C9762-00E7-831E-AD7D-4EBCDCB68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5B568F4-8FFF-B984-A989-FF4D175CE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172053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6B83BB-0F4E-3220-3EA2-46482ADFC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AEF69B9-3DF3-98DC-3E9F-2649A83CBE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A906DFF-17C4-FDF0-44EC-A1C5DEF6A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64BDD19-D6D6-217E-34C5-2255F44B0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334121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9811A80-10AE-4456-9F92-B33FE570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938CEDC-296E-A987-2507-1C6B11028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66090C4-BCD7-FB3D-492E-02AF4DE76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9917C4-5FB9-859D-B4EB-88E5D9EC2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549832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8411597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84082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D62CBE1-A0FC-5995-AD20-B52FB5BA8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1CA9C1-073A-5F03-D659-2D8E29413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F5DCB9-67AA-6396-1066-8B631F9F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7E69613-0AFB-08D6-6026-F1E7144B5C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367254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A04735-2146-2214-82DF-CBA32181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341027-B64F-18E7-B5A7-C5101CD5D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243A0C-6FC2-DFD5-A37D-D17300964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68AFEFA-A056-2E21-0061-6A3C014F01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062771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B20DBC-68BC-0E34-7148-89054C774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B9E305B-0E47-3FAF-6FC7-73A555971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D86A95F-49A6-A768-769F-EFF177A8D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963420F-6C79-DCA6-F96F-FC1AECB600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01745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56B5E7-B567-0DA8-1FB7-7C7ED04EA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C5152EA-7FE1-2F84-E965-75ED78375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2DC7255-6789-7AD1-F938-9BD5D4374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E197067-2AD8-B45E-7B36-279D930CB9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39349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05E900-08EE-3B07-5004-5798836C9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CEAA3E6-3FCD-1A5A-F53B-4D9C9298F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BF1B99-5B8C-AC2B-440B-C83431B6B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832417-CECC-3666-0061-C25842B73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485701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413025-B1FE-1794-07D9-2EF745D9B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85007A2-495F-2775-3224-A51945D1FA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B151259-3E22-F51B-6941-E510C5EB3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FBC45CA-55B7-67E8-D2C8-D002327F0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108311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5704F7-4B21-9524-30DE-6F173F031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D0F6BB2-B13A-B62F-59DB-F87D00BA5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85C5C6D-1B28-BE33-B5FF-5240F467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851FAD-6234-FBE5-A04E-61434C69B6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1284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B55B68-5E05-F3EB-7E8D-26C837AF7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F6A17E7-F330-B207-DDEB-3EF4B6109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FD21ACF-E1B5-AFAA-7055-4D6C138EF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7141-0563-434F-9EF1-852D65CFAEDD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62DA613-532D-A8C9-0277-1932BCC9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BD6D684-1D13-2A6E-F59F-756DFD2E6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5121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EB547E-C0D9-6F9D-4477-FC438504A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8467A1-E0FE-B7E0-B875-CBF952CE2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85F6EC1-737A-9258-95D3-9ACC85D84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4877B1-D855-FC7F-0F91-9132FEEC5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268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E38360-29B0-E4B4-6A14-3A77AF1C0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EC9DEAB-2A60-591D-656D-3D45C2024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5611E0D-3800-BFE4-2A72-31C911986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9627E-A4F6-9044-9382-9A3FEB68C932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20154EE-15DF-2A6C-2BFD-F06CB981D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D688A48-4EDD-688C-9BEA-FFE2AFD03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5860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F33F7-1197-3719-0B81-FE9E83211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80C513-1CE3-AAA8-3941-34C33CB05E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9443F9F-95A0-E254-E8CC-627451E9D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721C897-9B2A-7215-D554-253B1BA2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FA34-9AD6-3E40-8856-FA8DCB1E04DD}" type="datetime1">
              <a:rPr lang="en-US" smtClean="0"/>
              <a:t>10/20/2025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A8FB169-21E1-5D32-8AA9-3D6B75E2C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CE5873-DF11-5C2F-5B7C-722612ED8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67652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E5D7BE-6715-F950-383D-E9E019135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2798C97-AFF5-743A-D9C6-F3E0E8548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BB91E37B-99AB-0CFA-D703-07A38730D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A967C4F-EC5E-DDB6-05F2-771252ECC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6938E697-C64B-AB56-439F-0E0DF00DE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41CCD0E-BAD3-FBBA-A0F2-22AF89F6B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87EA0-5966-7F4A-B5AA-A44E3885A250}" type="datetime1">
              <a:rPr lang="en-US" smtClean="0"/>
              <a:t>10/20/2025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C523237-35C6-4D59-2F1A-B98F63A76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D5E41585-171E-9686-365B-01E091C79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56903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0A6CFC-4AEA-DA74-E9FC-FAAF74B9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AE037FC6-DC68-5284-F8B1-2CD102FEB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D39A2-A4E4-B042-A38E-57077A4F095E}" type="datetime1">
              <a:rPr lang="en-US" smtClean="0"/>
              <a:t>10/20/2025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38E424DE-409F-9A6A-EEEC-59B9C850E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DF1D43F-9032-1032-A8A8-BBB30C35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4421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1F2312C-ECCF-5F71-2AB2-C68D378C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F0996-9061-2E49-B78D-018A8DE04C00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9D2EEA5-10F1-5842-3D33-4D942B56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23BF4DC-043A-A7EF-2892-D57699D5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18895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0054339-AFA6-6BD1-BED0-E7DB848F2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5FE6B8A-EC4A-0043-3E31-E96AD5DA0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A95A84-25CD-7D46-7868-85F55A353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9FD9243-C6CB-9BC3-67D3-B020503D1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2FA2B-27B0-9B43-AADD-4AF746C3E857}" type="datetime1">
              <a:rPr lang="en-US" smtClean="0"/>
              <a:t>10/20/2025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83A4658-0914-BD94-890B-6AD60E0ED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9D02A91-8200-1F7E-D698-8B003BADF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15333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FC6585-8556-0D64-8C17-08C567CCF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F142BC9A-E0D9-ABEC-FE61-0843953B4A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81E1977-4EE7-58E9-E40B-DFB5735E8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C8A11F0-ABB7-00BB-C8EF-9B1F7C4F3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B2EB-FFFD-4048-9731-4A1A0BF4C329}" type="datetime1">
              <a:rPr lang="en-US" smtClean="0"/>
              <a:t>10/20/2025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E120913E-99D7-A887-A365-113B110E9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8D7DFDE-FC1E-9993-8AEB-496B1AC05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90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319069C-C6BA-A7D7-5BCC-566EA92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95E00CD7-2F00-9A3A-C12B-71E81E49D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2349AED-BE54-87EC-84E5-11555D69C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D4DE-5E18-0D47-A1A0-DAA69F2DA1F5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13620D7-7E39-627D-6375-1F9D2B62F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FE7531F-FB2A-D2C0-682C-B07A34B3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241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6B7B1A08-E261-8E96-0506-12EEF04357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50FCE06-FDFA-242B-C536-368123A6F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67DA4A5-1F83-06A5-3CA6-369441168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B79A4-2D32-6946-BEB4-A62C071A47B6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26A4D7C-988E-F473-7052-32E8B0685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F7F3EB9-BF8B-A0EE-D8E8-E7FC18552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6501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902AF78A-EECF-5E37-CE06-921C961AD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0C0A444-7159-D21B-BE05-96AF77BD3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FFD487-665B-3F9B-A95C-1AF44BB2A9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18A1FB-997D-D64F-9EE3-168567971971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7F0EC3B-DDCB-5305-B540-2B3BA5F83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5061B2-61D6-8F88-8486-B01C98AA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5157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aikt.github.io/sw_task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ibuv.org/en/v1.x/guide/threads.html#id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misesaplus.com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n7.org/linux/man-pages/man2/timer_create.2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5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8A48A88-95D2-AED4-021E-709267D5BCC7}"/>
              </a:ext>
            </a:extLst>
          </p:cNvPr>
          <p:cNvSpPr txBox="1"/>
          <p:nvPr/>
        </p:nvSpPr>
        <p:spPr>
          <a:xfrm>
            <a:off x="2821484" y="2453675"/>
            <a:ext cx="654905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Event Loop Framework for Modern C++ Applications</a:t>
            </a:r>
            <a:endParaRPr lang="en-US" sz="2800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xmlns="" id="{CB16AF12-A55A-97B4-9DA4-CE165FC0F8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472" y="5307385"/>
            <a:ext cx="79509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>
              <a:buFont typeface="Wingdings" pitchFamily="2" charset="2"/>
              <a:buNone/>
            </a:pPr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26/9/2025</a:t>
            </a:r>
            <a:endParaRPr lang="ko-KR" altLang="en-US" sz="140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xmlns="" id="{E7750603-E5FA-9F07-E289-DEF2F9B243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897" y="5696327"/>
            <a:ext cx="4384277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/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Tran Anh Tai - Software Engineering Team – LGEDV</a:t>
            </a:r>
            <a:b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2023 - 2024: BMW ICON SW architect</a:t>
            </a:r>
          </a:p>
          <a:p>
            <a:pPr algn="ctr" eaLnBrk="1" hangingPunct="1"/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 2024 - Present: Honda SW architect</a:t>
            </a:r>
            <a:endParaRPr lang="ko-KR" altLang="en-US" sz="1100" b="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0FC24D0-2366-35DB-314D-2821C61BE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2D366-9655-D84B-B77B-79E88E175CB2}" type="datetime1">
              <a:rPr lang="en-US" smtClean="0"/>
              <a:t>10/20/2025</a:t>
            </a:fld>
            <a:endParaRPr lang="x-none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xmlns="" id="{854287FE-9559-FCE7-2EE9-3EA9AD8D7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</a:t>
            </a:fld>
            <a:endParaRPr lang="x-none"/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690E08F-4346-FB19-6350-D6D35A592CF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10" name="Line 2"/>
          <p:cNvCxnSpPr>
            <a:cxnSpLocks noChangeShapeType="1"/>
          </p:cNvCxnSpPr>
          <p:nvPr/>
        </p:nvCxnSpPr>
        <p:spPr bwMode="auto">
          <a:xfrm flipH="1" flipV="1">
            <a:off x="2875836" y="2270279"/>
            <a:ext cx="6440353" cy="40309"/>
          </a:xfrm>
          <a:prstGeom prst="line">
            <a:avLst/>
          </a:prstGeom>
          <a:noFill/>
          <a:ln w="127000">
            <a:solidFill>
              <a:srgbClr val="D6005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Line 3"/>
          <p:cNvCxnSpPr>
            <a:cxnSpLocks noChangeShapeType="1"/>
          </p:cNvCxnSpPr>
          <p:nvPr/>
        </p:nvCxnSpPr>
        <p:spPr bwMode="auto">
          <a:xfrm flipH="1" flipV="1">
            <a:off x="2875837" y="3869162"/>
            <a:ext cx="6440352" cy="11157"/>
          </a:xfrm>
          <a:prstGeom prst="line">
            <a:avLst/>
          </a:prstGeom>
          <a:noFill/>
          <a:ln w="127000">
            <a:solidFill>
              <a:srgbClr val="C0C0C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Rectangle 1"/>
          <p:cNvSpPr/>
          <p:nvPr/>
        </p:nvSpPr>
        <p:spPr>
          <a:xfrm>
            <a:off x="4661452" y="4053817"/>
            <a:ext cx="28691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ea typeface="Gulim"/>
              </a:rPr>
              <a:t>SW Architectural Design</a:t>
            </a:r>
            <a:endParaRPr lang="en-US" sz="105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88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1B137C1-2D8C-F1B9-A9D7-36CC7D46AD1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60E4AA8-6D35-FA4B-B26B-8ACCED751F8A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7D465E5-DE39-9C97-6CA5-39B1EC8E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</a:t>
            </a:fld>
            <a:endParaRPr lang="x-non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A75E75C-8ECD-E8A6-44C9-D298ABCE38EC}"/>
              </a:ext>
            </a:extLst>
          </p:cNvPr>
          <p:cNvSpPr txBox="1"/>
          <p:nvPr/>
        </p:nvSpPr>
        <p:spPr>
          <a:xfrm>
            <a:off x="1652294" y="614420"/>
            <a:ext cx="5220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Agenda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3">
            <a:extLst>
              <a:ext uri="{FF2B5EF4-FFF2-40B4-BE49-F238E27FC236}">
                <a16:creationId xmlns:a16="http://schemas.microsoft.com/office/drawing/2014/main" xmlns="" id="{F3565576-2823-0234-4FAA-28A0461B9504}"/>
              </a:ext>
            </a:extLst>
          </p:cNvPr>
          <p:cNvSpPr txBox="1">
            <a:spLocks/>
          </p:cNvSpPr>
          <p:nvPr/>
        </p:nvSpPr>
        <p:spPr>
          <a:xfrm>
            <a:off x="1652294" y="1543523"/>
            <a:ext cx="3858211" cy="41014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Overview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Context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Drivers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Representation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Decision Rationale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Validation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Conclusion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EA014A94-2F6A-90C9-35CB-01B9B8482A2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40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D12A77-ACC0-88FA-CBF8-21FA89D67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814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1. Project Overview</a:t>
            </a:r>
            <a: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  <a:t/>
            </a:r>
            <a:b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</a:b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8A58353-B76D-2D2D-2B59-77F8619C3E5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3B7E359-F277-275B-0318-CEA36B30A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3D5EA90C-B7C2-6192-8E76-268D2FC73076}"/>
              </a:ext>
            </a:extLst>
          </p:cNvPr>
          <p:cNvSpPr txBox="1">
            <a:spLocks/>
          </p:cNvSpPr>
          <p:nvPr/>
        </p:nvSpPr>
        <p:spPr>
          <a:xfrm>
            <a:off x="6698128" y="1005290"/>
            <a:ext cx="4824536" cy="62924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LGE Telematics projects for Honda, BMW, Toyota, and GM leverage the LGE Tiger platform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provides reusable, reliable, and robust services in the Telematics domain.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Tiger platform uses Tiger Looper as its core event loop mechanism to manage tasks for applications and services.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aims to enhance event loop architecture of Tiger platform.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proposes SW Task Framework – an event loop framework designed to deliver significant performance improvements while maintaining backward compatibility.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 high-performance C++ library for asynchronous event handling, timer management.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for a wide range of applications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ncluding automotive embedded systems, IoT devices, desktop and UI applications, real-time data processing, robotics, and backend services.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Homepage: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https://taikt.github.io/sw_task/index.html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1" indent="0">
              <a:lnSpc>
                <a:spcPct val="120000"/>
              </a:lnSpc>
              <a:spcBef>
                <a:spcPct val="50000"/>
              </a:spcBef>
              <a:defRPr/>
            </a:pPr>
            <a:endParaRPr lang="en-US" sz="19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5A16B166-7AEE-44F2-BE31-9EC1E8A70FF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EBE2AF0-B0B5-59E4-95EA-BEA90BF0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44" y="1036022"/>
            <a:ext cx="5031237" cy="47859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CEABC37-D5CA-16DE-F261-15C520CDCC0B}"/>
              </a:ext>
            </a:extLst>
          </p:cNvPr>
          <p:cNvSpPr txBox="1"/>
          <p:nvPr/>
        </p:nvSpPr>
        <p:spPr>
          <a:xfrm>
            <a:off x="1539669" y="5966053"/>
            <a:ext cx="1598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1: Telematics system</a:t>
            </a:r>
          </a:p>
        </p:txBody>
      </p:sp>
    </p:spTree>
    <p:extLst>
      <p:ext uri="{BB962C8B-B14F-4D97-AF65-F5344CB8AC3E}">
        <p14:creationId xmlns:p14="http://schemas.microsoft.com/office/powerpoint/2010/main" val="337080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A51E9F9-BEBD-577F-34FA-ADB154D2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09669"/>
            <a:ext cx="10515600" cy="589032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2. Project Context 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617FDCD-DE07-7435-B9F4-718742774A2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D807FC8-D3AC-AACC-7391-24949637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4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6A5E1AC0-F29A-2479-EBAC-245113042FC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5170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System Context Diagram</a:t>
            </a: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sz="14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3C31B1D0-E86C-D49A-8622-4819921EB882}"/>
              </a:ext>
            </a:extLst>
          </p:cNvPr>
          <p:cNvSpPr txBox="1">
            <a:spLocks/>
          </p:cNvSpPr>
          <p:nvPr/>
        </p:nvSpPr>
        <p:spPr>
          <a:xfrm>
            <a:off x="8832304" y="719794"/>
            <a:ext cx="3024336" cy="32201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NAD SoC: include applications and services developed by LGE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solidFill>
                  <a:schemeClr val="tx1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 high-performance, modern C++ event loop framework designed to compare Tiger Looper with superior architecture and developer experience.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Serves as the foundational event/task management layer for Tiger platform services</a:t>
            </a: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73009833-FABA-3E2D-E634-C04C3932BB3F}"/>
              </a:ext>
            </a:extLst>
          </p:cNvPr>
          <p:cNvSpPr/>
          <p:nvPr/>
        </p:nvSpPr>
        <p:spPr>
          <a:xfrm>
            <a:off x="6378814" y="88576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82" y="1005256"/>
            <a:ext cx="6468004" cy="50601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7DB19766-723C-AFA0-B832-5D9A619FD919}"/>
              </a:ext>
            </a:extLst>
          </p:cNvPr>
          <p:cNvSpPr txBox="1"/>
          <p:nvPr/>
        </p:nvSpPr>
        <p:spPr>
          <a:xfrm>
            <a:off x="2874805" y="6185883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352045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620A5A-EEA5-AB4B-7B46-109A30024A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B339E95-14DF-88A7-CFAA-E69C4F214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5</a:t>
            </a:fld>
            <a:endParaRPr lang="x-none"/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913EF47-5F03-A88A-3039-840B39FD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786729"/>
              </p:ext>
            </p:extLst>
          </p:nvPr>
        </p:nvGraphicFramePr>
        <p:xfrm>
          <a:off x="695400" y="1052736"/>
          <a:ext cx="8568952" cy="30866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1435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7677517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 Loop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provide event loop functionality to process </a:t>
                      </a:r>
                      <a:b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messages, functions, and timers in unified manner.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FR-02</a:t>
                      </a:r>
                    </a:p>
                    <a:p>
                      <a:endParaRPr lang="en-US" sz="1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 Processing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Android-style message handling with Handler pattern for backward compatibility as</a:t>
                      </a:r>
                      <a:r>
                        <a:rPr lang="en-US" sz="1200" b="0" i="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currently used in Tiger Looper.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3058877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FR-03</a:t>
                      </a:r>
                    </a:p>
                    <a:p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Function Execution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execute C++ lambda functions and std::function objects asynchronously on appropriate threads.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387735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Chain Operations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Promise creation, chaining, and exception propagation for async workflows (following design of JavaScript Promise A+ standard)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FR-05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create, schedule, and cancel timers with millisecond precision using efficient kernel mechanisms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FR-06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Error Handling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propagate exceptions through promise chains and provide error callbacks for async operations (following design of JavaScript Promise A+ standard).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FR-07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Framework shall support </a:t>
                      </a:r>
                      <a:r>
                        <a:rPr kumimoji="1" lang="en-US" sz="12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Coroutines C++20 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asynchronous feature.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057502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6664300-94CB-0BA8-155A-E9C3B61C3EF0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High-level Functional Requirement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694DA882-CD57-1B50-6683-2441E66585F9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762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C904E79-BD21-3A6B-AEEB-F112C7EFDCB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20E2726E-3D5A-FBE8-A1B5-B6A64CFDD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6</a:t>
            </a:fld>
            <a:endParaRPr lang="x-non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9579AF2-EBE8-1168-C07D-186ABAECD71A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graphicFrame>
        <p:nvGraphicFramePr>
          <p:cNvPr id="11" name="표 1">
            <a:extLst>
              <a:ext uri="{FF2B5EF4-FFF2-40B4-BE49-F238E27FC236}">
                <a16:creationId xmlns:a16="http://schemas.microsoft.com/office/drawing/2014/main" xmlns="" id="{CBA3C5BE-2FF3-6D85-367A-727544B31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75412"/>
              </p:ext>
            </p:extLst>
          </p:nvPr>
        </p:nvGraphicFramePr>
        <p:xfrm>
          <a:off x="725802" y="1081087"/>
          <a:ext cx="10789820" cy="24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884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5685509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343422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  <a:gridCol w="1047088">
                  <a:extLst>
                    <a:ext uri="{9D8B030D-6E8A-4147-A177-3AD203B41FA5}">
                      <a16:colId xmlns:a16="http://schemas.microsoft.com/office/drawing/2014/main" xmlns="" val="1474848662"/>
                    </a:ext>
                  </a:extLst>
                </a:gridCol>
                <a:gridCol w="1018045">
                  <a:extLst>
                    <a:ext uri="{9D8B030D-6E8A-4147-A177-3AD203B41FA5}">
                      <a16:colId xmlns:a16="http://schemas.microsoft.com/office/drawing/2014/main" xmlns="" val="129830481"/>
                    </a:ext>
                  </a:extLst>
                </a:gridCol>
                <a:gridCol w="716916">
                  <a:extLst>
                    <a:ext uri="{9D8B030D-6E8A-4147-A177-3AD203B41FA5}">
                      <a16:colId xmlns:a16="http://schemas.microsoft.com/office/drawing/2014/main" xmlns="" val="1210504044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Attribute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Business</a:t>
                      </a:r>
                    </a:p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importance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Difficulty</a:t>
                      </a:r>
                      <a:b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(Technical)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Priority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Performance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Efficiency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Useability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should not be impacted when using new framework.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Reusability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2408335"/>
                  </a:ext>
                </a:extLst>
              </a:tr>
            </a:tbl>
          </a:graphicData>
        </a:graphic>
      </p:graphicFrame>
      <p:sp>
        <p:nvSpPr>
          <p:cNvPr id="14" name="직사각형 2">
            <a:extLst>
              <a:ext uri="{FF2B5EF4-FFF2-40B4-BE49-F238E27FC236}">
                <a16:creationId xmlns:a16="http://schemas.microsoft.com/office/drawing/2014/main" xmlns="" id="{BD9A4C8B-6BA5-DEF5-FCBB-2AB8C812D2A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8369551" y="3773799"/>
            <a:ext cx="3146071" cy="62814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23052" y="3763031"/>
            <a:ext cx="5950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Legend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018" y="3993863"/>
            <a:ext cx="3012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*Priority(1-5): the lower the value, the higher the priority</a:t>
            </a:r>
            <a:b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</a:br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*H: High, M: Medium.</a:t>
            </a:r>
          </a:p>
          <a:p>
            <a:endParaRPr lang="en-US" dirty="0"/>
          </a:p>
        </p:txBody>
      </p: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Quality Attribute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1233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29373" y="6476557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7</a:t>
            </a:fld>
            <a:endParaRPr lang="x-none"/>
          </a:p>
        </p:txBody>
      </p:sp>
      <p:sp>
        <p:nvSpPr>
          <p:cNvPr id="2" name="텍스트 개체 틀 3">
            <a:extLst>
              <a:ext uri="{FF2B5EF4-FFF2-40B4-BE49-F238E27FC236}">
                <a16:creationId xmlns:a16="http://schemas.microsoft.com/office/drawing/2014/main" xmlns="" id="{BEEAF762-9F9D-A359-A3A6-D0D0A9D02EFF}"/>
              </a:ext>
            </a:extLst>
          </p:cNvPr>
          <p:cNvSpPr txBox="1">
            <a:spLocks/>
          </p:cNvSpPr>
          <p:nvPr/>
        </p:nvSpPr>
        <p:spPr>
          <a:xfrm>
            <a:off x="438485" y="501078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Static View of SW Task Framework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203BE35-39D5-00D7-B54B-322E79F74A56}"/>
              </a:ext>
            </a:extLst>
          </p:cNvPr>
          <p:cNvSpPr txBox="1"/>
          <p:nvPr/>
        </p:nvSpPr>
        <p:spPr>
          <a:xfrm>
            <a:off x="75270" y="93497"/>
            <a:ext cx="57606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4.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Representation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5703C7DA-6BD0-604E-6939-B4EC5EB8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962628"/>
              </p:ext>
            </p:extLst>
          </p:nvPr>
        </p:nvGraphicFramePr>
        <p:xfrm>
          <a:off x="120957" y="759610"/>
          <a:ext cx="5669266" cy="579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5633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2216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011468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25154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SRS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6226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SLLooper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for unified event loop, handles function/message/timer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FR-02,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463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EventQueue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Thread-safe queue for messages and functions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QA-03</a:t>
                      </a:r>
                    </a:p>
                    <a:p>
                      <a:pPr algn="l"/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36334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QueueItem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Abstract base class for all queueable event items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QA-03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12349175"/>
                  </a:ext>
                </a:extLst>
              </a:tr>
              <a:tr h="332237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Handler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Android-style message handler for backward compatibility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24425724"/>
                  </a:ext>
                </a:extLst>
              </a:tr>
              <a:tr h="308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TimerManager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Manages timers, schedules/cancels with millisecond precision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FR-05, QA-02</a:t>
                      </a: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324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CPUTaskThread</a:t>
                      </a: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for executing heavy tasks asynchronously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FR-03,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71607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async result, supports chaining and error propagation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372638671"/>
                  </a:ext>
                </a:extLst>
              </a:tr>
              <a:tr h="33836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state management and cross-thread coordination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 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C++20 coroutine wrapper for async task lifecycle management with start/done/get operations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8424766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DelayAwaitable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non-blocking coroutine suspension with timer-based delays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3821564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functions on main event loop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75170834"/>
                  </a:ext>
                </a:extLst>
              </a:tr>
              <a:tr h="31051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WorkAwaitable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CPU-bound functions on background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5585684"/>
                  </a:ext>
                </a:extLst>
              </a:tr>
            </a:tbl>
          </a:graphicData>
        </a:graphic>
      </p:graphicFrame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436" y="4616025"/>
            <a:ext cx="1324204" cy="602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B0DC94F-8017-4A24-7F98-C8206833B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001" y="0"/>
            <a:ext cx="5790682" cy="43113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8EAC3C7-68BE-D34E-495B-F00A6AF546A6}"/>
              </a:ext>
            </a:extLst>
          </p:cNvPr>
          <p:cNvSpPr txBox="1"/>
          <p:nvPr/>
        </p:nvSpPr>
        <p:spPr>
          <a:xfrm>
            <a:off x="7828272" y="5350020"/>
            <a:ext cx="2621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3: Module view for SW Task framework</a:t>
            </a:r>
          </a:p>
        </p:txBody>
      </p:sp>
    </p:spTree>
    <p:extLst>
      <p:ext uri="{BB962C8B-B14F-4D97-AF65-F5344CB8AC3E}">
        <p14:creationId xmlns:p14="http://schemas.microsoft.com/office/powerpoint/2010/main" val="175327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F6B7A6-0F11-F877-047E-B5C27285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A5B66DC-29F4-EA01-22BD-6133920F9E8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EC2C612-8EBA-A28F-4D9A-574882DD7D0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5.1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0E7C8DE-9F4C-BCDE-C42F-4E6192D69155}"/>
              </a:ext>
            </a:extLst>
          </p:cNvPr>
          <p:cNvSpPr txBox="1">
            <a:spLocks/>
          </p:cNvSpPr>
          <p:nvPr/>
        </p:nvSpPr>
        <p:spPr>
          <a:xfrm>
            <a:off x="183558" y="590908"/>
            <a:ext cx="4297412" cy="1242718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Event Thread Architecture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is a C++ library for event loop, which is based on Android-style handling (message, handler, looper).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Client application creates message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obtainMessage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(), send it to event loop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sendMessage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event loop run on a separate event loop thread and handle messages in message queue asynchronously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dispatchMessage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dedicated event loop thread prevents blocking of the main application thread when processing multiple events.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Current issue of Tiger looper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Only support C++ 11 standard, lack support of high-performance modern C++ stands (C++ 14/17/20)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uses single event thread architecture.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operations processed sequentially on one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Event loop blocks on CPU-bound tasks (heavy task)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No parallelism possible, cannot utilize multiple CPU cores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CPU-bound tasks freeze the system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Sequential bottleneck under load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Tiger Looper's single-threaded design fundamentally limits performance and client application experience.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718DA60-BB90-D9A8-1ADC-8A7F19E0AC2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0513D3F-7450-3E3E-B7C0-CE6E58081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796104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142" y="633494"/>
            <a:ext cx="4166300" cy="442999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4979" y="5063484"/>
            <a:ext cx="1220968" cy="721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1E0BC2-BB7A-7E6F-A532-437DE1E34AB4}"/>
              </a:ext>
            </a:extLst>
          </p:cNvPr>
          <p:cNvSpPr txBox="1"/>
          <p:nvPr/>
        </p:nvSpPr>
        <p:spPr>
          <a:xfrm>
            <a:off x="8293965" y="5613682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4: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3034928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DDF4D2-1634-FEC3-F6FA-5DC0ADD9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3D4A7AD-49AB-40E0-BBA9-176AA8908D8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3DAD3CF-4A86-A88C-C5EE-1254C8446ED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E58D85AC-214B-80B1-FD8A-7555192F11E0}"/>
              </a:ext>
            </a:extLst>
          </p:cNvPr>
          <p:cNvSpPr txBox="1">
            <a:spLocks/>
          </p:cNvSpPr>
          <p:nvPr/>
        </p:nvSpPr>
        <p:spPr>
          <a:xfrm>
            <a:off x="71022" y="457967"/>
            <a:ext cx="8306061" cy="729962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To meet QA-01: </a:t>
            </a:r>
            <a:r>
              <a:rPr lang="en-US" sz="1400" b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handle high-frequency events with response time under 1 sec (Performance).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framework use two strategies: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 advanced Multi-Thread architecture for different workloads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Clarify and handle task/events based on type of task/event load (light/normal/heavy)</a:t>
            </a:r>
            <a: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Promise-based concurrency (Promise A+ standard in JavaScript): design following JS Promise standard but implementation in C++.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Coroutines-based concurrency (C++ 20 feature for async operation)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873BBB3-85B6-CBB2-58F3-BA024DDDB2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96527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588334"/>
            <a:ext cx="4550664" cy="134683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idea: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SW Task uses main event loop thread for handle light/normal tasks and a separate thread for heavy task (on demand).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User 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selects actively proper API based on task type. Post() for light 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Same idea in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Nodejs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https://docs.libuv.org/en/v1.x/guide/threads.html#id1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Main event loop thread: Handle light/normal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Processes non-blocking I/O operations and light/normal events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callbacks executed on main thread ensuring responsiveness, never blocks on heavy computations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400" b="0" dirty="0"/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CPU-bound task thread: Handle heavy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Dedicated thread for heavy processing operations (file operations, JSON parsing, crypto)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Completely isolated from main event loop thread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Communicates results back via Promise/State mechanism (introduce later)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Prevents main event loop blocking during intensive computations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400" b="0" dirty="0"/>
          </a:p>
          <a:p>
            <a:pPr>
              <a:lnSpc>
                <a:spcPct val="120000"/>
              </a:lnSpc>
              <a:spcBef>
                <a:spcPct val="50000"/>
              </a:spcBef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10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448" y="2045494"/>
            <a:ext cx="2671716" cy="279045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8178" y="719032"/>
            <a:ext cx="4808894" cy="478191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681" y="812467"/>
            <a:ext cx="1210497" cy="7149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20580" y="4945337"/>
            <a:ext cx="1731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light/normal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8907" y="4813097"/>
            <a:ext cx="1319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heavy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8EFF37B-83D8-CE21-403E-D610EA026B33}"/>
              </a:ext>
            </a:extLst>
          </p:cNvPr>
          <p:cNvSpPr txBox="1"/>
          <p:nvPr/>
        </p:nvSpPr>
        <p:spPr>
          <a:xfrm>
            <a:off x="8131281" y="5583262"/>
            <a:ext cx="32624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5: Communication Diagram for handling event/task</a:t>
            </a:r>
          </a:p>
        </p:txBody>
      </p:sp>
    </p:spTree>
    <p:extLst>
      <p:ext uri="{BB962C8B-B14F-4D97-AF65-F5344CB8AC3E}">
        <p14:creationId xmlns:p14="http://schemas.microsoft.com/office/powerpoint/2010/main" val="2377349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933095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Client uses post() for light/normal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light task, it is handled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event loop thread (non-blocking)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heavy task, it is handled asynchronously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separate thread, then send back result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 main event loop thread to callback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response to Client through Promise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system (introduce later).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11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037" y="1767452"/>
            <a:ext cx="3985647" cy="4168399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187" y="1312048"/>
            <a:ext cx="3656786" cy="46238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D58378E-74C1-0DF2-527E-B6C91B5AF7FC}"/>
              </a:ext>
            </a:extLst>
          </p:cNvPr>
          <p:cNvSpPr txBox="1"/>
          <p:nvPr/>
        </p:nvSpPr>
        <p:spPr>
          <a:xfrm>
            <a:off x="3752878" y="6040099"/>
            <a:ext cx="32960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6: Sequence Diagram for handling light/normal task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A788E71-3A25-E92D-A4B5-92168CB50E22}"/>
              </a:ext>
            </a:extLst>
          </p:cNvPr>
          <p:cNvSpPr txBox="1"/>
          <p:nvPr/>
        </p:nvSpPr>
        <p:spPr>
          <a:xfrm>
            <a:off x="8267322" y="6047923"/>
            <a:ext cx="37593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7: Sequence Diagram for handling heavy task (simple view)</a:t>
            </a:r>
          </a:p>
        </p:txBody>
      </p:sp>
    </p:spTree>
    <p:extLst>
      <p:ext uri="{BB962C8B-B14F-4D97-AF65-F5344CB8AC3E}">
        <p14:creationId xmlns:p14="http://schemas.microsoft.com/office/powerpoint/2010/main" val="3507963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115664" cy="77766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This diagram shows interaction of internal components of SW task (Main event loop thread, Promise system, CPU-bound task thread)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12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031772"/>
              </p:ext>
            </p:extLst>
          </p:nvPr>
        </p:nvGraphicFramePr>
        <p:xfrm>
          <a:off x="6014721" y="28721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2781" y="609013"/>
            <a:ext cx="7959219" cy="55207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FB6A251-25AD-89D6-85C2-F1F306437198}"/>
              </a:ext>
            </a:extLst>
          </p:cNvPr>
          <p:cNvSpPr txBox="1"/>
          <p:nvPr/>
        </p:nvSpPr>
        <p:spPr>
          <a:xfrm>
            <a:off x="6679744" y="6192317"/>
            <a:ext cx="38347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8: Sequence Diagram for handling heavy task (detailed view)</a:t>
            </a:r>
          </a:p>
        </p:txBody>
      </p:sp>
    </p:spTree>
    <p:extLst>
      <p:ext uri="{BB962C8B-B14F-4D97-AF65-F5344CB8AC3E}">
        <p14:creationId xmlns:p14="http://schemas.microsoft.com/office/powerpoint/2010/main" val="2468321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3AFA40-8218-8E4A-D772-AAE9B93F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FCF3AE6-B6C5-DBB5-9FCC-F49C7F503936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742A0EE0-4629-8D0F-5C60-03301D1312FA}"/>
              </a:ext>
            </a:extLst>
          </p:cNvPr>
          <p:cNvSpPr txBox="1">
            <a:spLocks/>
          </p:cNvSpPr>
          <p:nvPr/>
        </p:nvSpPr>
        <p:spPr>
          <a:xfrm>
            <a:off x="113846" y="437875"/>
            <a:ext cx="4297412" cy="11345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2: use Concurrency</a:t>
            </a: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Issue of synchronous call: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Sync call blocks CPU and caller has to wait result response.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Caller cannot do other job during waiting time, reducing efficiency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Technical Constraints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C++ 20 provides Coroutines feature to support asynchronous operation effectively.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JavaScript provides Promise A+ standard: Efficient for handling async operation with low cost.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https://promisesaplus.com/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Propose asynchronous helper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Propose an Async helper based on JavaScript Promise A+ standard and Coroutines C++ 20 (both features run independently): provide rich async API options for user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Async Helper avoids </a:t>
            </a: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Callback hell problem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and provides convenient usage for Client code.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8910D45-F4CF-8EFB-4628-F5BB4FA71FD0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13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79485232-3959-0E97-C9CB-94E654EC33ED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15915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EF91E05-B376-B537-C2E8-B5A4A48474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7457" y="4826035"/>
            <a:ext cx="1280697" cy="5826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1F14E45-A0E4-5C9C-CB4D-15E3CBB795DB}"/>
              </a:ext>
            </a:extLst>
          </p:cNvPr>
          <p:cNvSpPr txBox="1"/>
          <p:nvPr/>
        </p:nvSpPr>
        <p:spPr>
          <a:xfrm>
            <a:off x="7363457" y="4963962"/>
            <a:ext cx="22284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9: Module view for Async Helper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FC5FFA68-D846-339F-7641-FB03F110C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589" y="898023"/>
            <a:ext cx="7422565" cy="379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25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3C94A1-1E73-8B2A-284F-3F2108CE3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9E6596A-A02C-EEB2-8F8A-AEE38D92E26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B8E5659-73D7-5471-1BF0-CD4FE07A724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AD6B0F8-C2B3-3877-47EC-37CD49C4581A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843532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Store callback in Promise&lt;T&gt; object as continuation function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When Promise value is fulfilled, continuation is executed asynchronously on main thread event loop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Support Promise chain: sequence of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multiple callbacks triggered in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sequential order with exception handling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A1FAFA05-B11E-9D53-D8E1-3E4F3726468C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14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C1E17995-9DA6-9345-EFA1-883645316168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256" y="2020887"/>
            <a:ext cx="9482827" cy="400951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734" y="6060533"/>
            <a:ext cx="1103184" cy="6515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0AD2652-2273-747B-6276-CBD3168D6C4C}"/>
              </a:ext>
            </a:extLst>
          </p:cNvPr>
          <p:cNvSpPr txBox="1"/>
          <p:nvPr/>
        </p:nvSpPr>
        <p:spPr>
          <a:xfrm>
            <a:off x="5913649" y="6037827"/>
            <a:ext cx="29466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10: Communication diagram for Promise flow</a:t>
            </a:r>
          </a:p>
        </p:txBody>
      </p:sp>
    </p:spTree>
    <p:extLst>
      <p:ext uri="{BB962C8B-B14F-4D97-AF65-F5344CB8AC3E}">
        <p14:creationId xmlns:p14="http://schemas.microsoft.com/office/powerpoint/2010/main" val="3206651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15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DF43B80-0935-DBD0-DB67-679D421DB3B7}"/>
              </a:ext>
            </a:extLst>
          </p:cNvPr>
          <p:cNvSpPr txBox="1"/>
          <p:nvPr/>
        </p:nvSpPr>
        <p:spPr>
          <a:xfrm>
            <a:off x="155231" y="146387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1859C86-9651-8D6C-3D58-1492C7D2BD24}"/>
              </a:ext>
            </a:extLst>
          </p:cNvPr>
          <p:cNvSpPr txBox="1"/>
          <p:nvPr/>
        </p:nvSpPr>
        <p:spPr>
          <a:xfrm>
            <a:off x="78365" y="564253"/>
            <a:ext cx="4685285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Promise Chain example</a:t>
            </a: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81AA901A-EF39-4206-C98F-6F99D6D4352B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49773375-21BE-15E8-2778-CBDBE2155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089" y="5364026"/>
            <a:ext cx="2885726" cy="1141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19F61D6-A9AA-C4AE-E31A-B04D0A225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374" y="1679314"/>
            <a:ext cx="4051675" cy="3943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C8B383E-9220-6149-0675-55D520BA5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0372" y="2365153"/>
            <a:ext cx="7275838" cy="23327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C1927B0-77F9-6EA5-050E-AA34E18A6856}"/>
              </a:ext>
            </a:extLst>
          </p:cNvPr>
          <p:cNvSpPr txBox="1"/>
          <p:nvPr/>
        </p:nvSpPr>
        <p:spPr>
          <a:xfrm>
            <a:off x="5468075" y="4498533"/>
            <a:ext cx="40879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11: Visualize promise chain and user code (callbacks recursively)</a:t>
            </a:r>
          </a:p>
        </p:txBody>
      </p:sp>
    </p:spTree>
    <p:extLst>
      <p:ext uri="{BB962C8B-B14F-4D97-AF65-F5344CB8AC3E}">
        <p14:creationId xmlns:p14="http://schemas.microsoft.com/office/powerpoint/2010/main" val="3598479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9AF6D2-590B-B33F-22F3-F89AF6E8F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0B3B7E-B560-2EAC-5C83-7DBD47F344B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5E70BAF-E014-F94C-CDCB-D40F7ABF05BC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F2A179F-23CE-3DC8-373D-20ADF3A42432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779AB85-467C-BEAF-4E10-C69B9B3314E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16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078FCDE-4F79-46B9-B355-E14A515A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47161"/>
              </p:ext>
            </p:extLst>
          </p:nvPr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580" y="689674"/>
            <a:ext cx="6727606" cy="61140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1C99FD0-CA3E-C5A9-5B44-A3FCFE008C6F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1E4F385-7730-E973-7205-1A44B12C3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39" y="1133861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ECF38046-9259-C1B0-B695-944710133264}"/>
              </a:ext>
            </a:extLst>
          </p:cNvPr>
          <p:cNvSpPr txBox="1"/>
          <p:nvPr/>
        </p:nvSpPr>
        <p:spPr>
          <a:xfrm>
            <a:off x="1188579" y="1546193"/>
            <a:ext cx="1560371" cy="141270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A8B11092-6037-172E-00E6-162A6D812114}"/>
              </a:ext>
            </a:extLst>
          </p:cNvPr>
          <p:cNvSpPr txBox="1"/>
          <p:nvPr/>
        </p:nvSpPr>
        <p:spPr>
          <a:xfrm>
            <a:off x="376881" y="3319211"/>
            <a:ext cx="3292221" cy="696748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C27E473F-030F-A877-8F6E-5206B48707C4}"/>
              </a:ext>
            </a:extLst>
          </p:cNvPr>
          <p:cNvSpPr txBox="1"/>
          <p:nvPr/>
        </p:nvSpPr>
        <p:spPr>
          <a:xfrm>
            <a:off x="375251" y="4040820"/>
            <a:ext cx="3506341" cy="1106274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xmlns="" id="{737500A2-B3FB-8056-282D-39739DE9BDAE}"/>
              </a:ext>
            </a:extLst>
          </p:cNvPr>
          <p:cNvCxnSpPr>
            <a:cxnSpLocks/>
          </p:cNvCxnSpPr>
          <p:nvPr/>
        </p:nvCxnSpPr>
        <p:spPr>
          <a:xfrm>
            <a:off x="2748950" y="1616015"/>
            <a:ext cx="2863971" cy="138023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xmlns="" id="{E3809FD0-E0FF-D525-6F07-068A23103294}"/>
              </a:ext>
            </a:extLst>
          </p:cNvPr>
          <p:cNvCxnSpPr>
            <a:cxnSpLocks/>
          </p:cNvCxnSpPr>
          <p:nvPr/>
        </p:nvCxnSpPr>
        <p:spPr>
          <a:xfrm>
            <a:off x="3669102" y="3690452"/>
            <a:ext cx="199557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xmlns="" id="{3DE237E2-2D9E-2B56-DE9E-3C4106BCEED4}"/>
              </a:ext>
            </a:extLst>
          </p:cNvPr>
          <p:cNvCxnSpPr>
            <a:cxnSpLocks/>
          </p:cNvCxnSpPr>
          <p:nvPr/>
        </p:nvCxnSpPr>
        <p:spPr>
          <a:xfrm>
            <a:off x="3881592" y="4544467"/>
            <a:ext cx="178308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D184696-085D-2FF0-9ADC-2C886861B16A}"/>
              </a:ext>
            </a:extLst>
          </p:cNvPr>
          <p:cNvSpPr txBox="1"/>
          <p:nvPr/>
        </p:nvSpPr>
        <p:spPr>
          <a:xfrm>
            <a:off x="805950" y="5859932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12: mapping user code with sequence diagram (a)</a:t>
            </a:r>
          </a:p>
        </p:txBody>
      </p:sp>
    </p:spTree>
    <p:extLst>
      <p:ext uri="{BB962C8B-B14F-4D97-AF65-F5344CB8AC3E}">
        <p14:creationId xmlns:p14="http://schemas.microsoft.com/office/powerpoint/2010/main" val="3804452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3A0161-BDFC-FE85-F090-D17189B9D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A80C0B-3550-EC88-DC2A-6AD2DB15A1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5A26DB9-C561-7368-FF33-7E3B1276A141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6E13A67-5A49-C094-C396-5F2C96B57E13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4634B08C-08CA-E756-0A3A-1052A73C671F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17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CD994CF-3340-722D-6B40-CC213DF0ABD5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651" y="560297"/>
            <a:ext cx="4826497" cy="6161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3BD50CC-DEBD-1683-3C53-3F76868789AD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0CE3F6F5-AF15-A171-9796-DBC66FB07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12" y="1225019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9EAB59C5-6976-C9B3-B00F-6950C9F8660B}"/>
              </a:ext>
            </a:extLst>
          </p:cNvPr>
          <p:cNvSpPr txBox="1"/>
          <p:nvPr/>
        </p:nvSpPr>
        <p:spPr>
          <a:xfrm>
            <a:off x="849293" y="2181044"/>
            <a:ext cx="1272100" cy="19015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xmlns="" id="{5029355D-641F-CB89-50EF-30DBB13D83F1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2121393" y="1915064"/>
            <a:ext cx="5222562" cy="361056"/>
          </a:xfrm>
          <a:prstGeom prst="curvedConnector3">
            <a:avLst/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DF766D5C-1FFB-4CA5-BB2A-1753B2BC3215}"/>
              </a:ext>
            </a:extLst>
          </p:cNvPr>
          <p:cNvSpPr txBox="1"/>
          <p:nvPr/>
        </p:nvSpPr>
        <p:spPr>
          <a:xfrm>
            <a:off x="654002" y="5922399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13: mapping user code with sequence diagram (b)</a:t>
            </a:r>
          </a:p>
        </p:txBody>
      </p:sp>
    </p:spTree>
    <p:extLst>
      <p:ext uri="{BB962C8B-B14F-4D97-AF65-F5344CB8AC3E}">
        <p14:creationId xmlns:p14="http://schemas.microsoft.com/office/powerpoint/2010/main" val="356996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C833D55-A7BE-ACDD-B545-0C69B3B9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9EE9733-A206-755C-0F5C-A513B2A58615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2B6386D-47B8-8EC8-B72E-053093C61A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1125455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Protocol Compliance: All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awaitables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implement standard C++20 coroutine protocol (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await_ready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, 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await_suspend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, 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await_resume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Thread Routing: Automatic routing to appropriate execution threads based on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type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Unified Resumption: Single Coroutine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Resumer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 handles completion from all execution contexts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Task&lt;T&gt;: Coroutine wrapper managing lifecycle and execution state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WorkAwaitable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&lt;T&gt;: Background thread execution for CPU-intensive tasks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&lt;T&gt;: Main event thread execution for thread-safe operations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DelayAwaitable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: Timer-based delay operations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59EB94CC-9FD8-BC79-A914-7A5F01C35DEE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1F6E418A-849D-06C8-C246-36D266C56A6C}"/>
              </a:ext>
            </a:extLst>
          </p:cNvPr>
          <p:cNvGraphicFramePr>
            <a:graphicFrameLocks noGrp="1"/>
          </p:cNvGraphicFramePr>
          <p:nvPr/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FC80D1CB-481C-CA27-EEFD-CFD8AFD9D375}"/>
              </a:ext>
            </a:extLst>
          </p:cNvPr>
          <p:cNvSpPr txBox="1"/>
          <p:nvPr/>
        </p:nvSpPr>
        <p:spPr>
          <a:xfrm>
            <a:off x="4595684" y="6262745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14: Coroutines design (C&amp;C diagram)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F0A0990E-5291-051F-95D5-508DA4D21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980" y="11931"/>
            <a:ext cx="4526835" cy="625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634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AC0544-C471-0D7E-DD71-62E5834E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B0DE06F-382B-F221-6626-EB0C6BCC8A8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0BA3348-4C24-084B-E654-EEC74759BE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FD196BCD-2B40-01D1-3AD6-4804B3656254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F543CA5-C55F-0FD4-E04E-39AFE5DD5A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622435"/>
              </p:ext>
            </p:extLst>
          </p:nvPr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40EF35F-0738-140F-9C93-B60709F0AAB7}"/>
              </a:ext>
            </a:extLst>
          </p:cNvPr>
          <p:cNvSpPr txBox="1"/>
          <p:nvPr/>
        </p:nvSpPr>
        <p:spPr>
          <a:xfrm>
            <a:off x="1863892" y="6230885"/>
            <a:ext cx="28985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15: Map user code with sequence diagram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87EA3BE2-35A7-2554-014C-9735E3D8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377" y="60905"/>
            <a:ext cx="5458665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51" y="1160193"/>
            <a:ext cx="4333936" cy="48726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ABE366A5-7735-54BF-A57D-EDB30E32AB2E}"/>
              </a:ext>
            </a:extLst>
          </p:cNvPr>
          <p:cNvSpPr txBox="1"/>
          <p:nvPr/>
        </p:nvSpPr>
        <p:spPr>
          <a:xfrm>
            <a:off x="1512697" y="3215379"/>
            <a:ext cx="2390230" cy="16344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xmlns="" id="{6FA5EAE6-78C2-ADE4-09D9-BF0E02E79278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3902927" y="851210"/>
            <a:ext cx="3367668" cy="2445890"/>
          </a:xfrm>
          <a:prstGeom prst="curvedConnector3">
            <a:avLst>
              <a:gd name="adj1" fmla="val 50000"/>
            </a:avLst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320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20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F30CCA1-3B61-2DDF-704B-22CA5182F06E}"/>
              </a:ext>
            </a:extLst>
          </p:cNvPr>
          <p:cNvSpPr txBox="1"/>
          <p:nvPr/>
        </p:nvSpPr>
        <p:spPr>
          <a:xfrm>
            <a:off x="64139" y="15263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38A7FBB-592D-61BD-D53C-1D47CC36A23D}"/>
              </a:ext>
            </a:extLst>
          </p:cNvPr>
          <p:cNvSpPr txBox="1"/>
          <p:nvPr/>
        </p:nvSpPr>
        <p:spPr>
          <a:xfrm>
            <a:off x="498185" y="656692"/>
            <a:ext cx="26516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4DAB6D25-862B-ACAC-9B6E-ED8926477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098624"/>
              </p:ext>
            </p:extLst>
          </p:nvPr>
        </p:nvGraphicFramePr>
        <p:xfrm>
          <a:off x="718056" y="1171146"/>
          <a:ext cx="8420333" cy="556564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5941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74814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386109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34911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Non-blocking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never freezes on heavy tasks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Dedicated CPU-bound task thread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Heavy computation isolated from main event loop.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Multi-core utilization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Can leverage all available CPU cores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Parallel workload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normal task and CPU-bound tasks run simultaneously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Coroutines C++20-based async and Promise-based async(JavaScript Promise A+ standard)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provide efficient async operation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This design shows that QA-01 is satisfied in architectural rationale. Verification section later proves practical result.   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memory footprint: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thread uses less memory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Simple execution model: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thread coordination overhead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execution is deterministic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overhead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Multiple threads consume more memory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Context switching cost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Some overhead from thread coordination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Only support C++ 11 (old standard)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Blocking: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CPU tasks freeze entire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application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Single-threaded bottleneck: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Cannot utilize multiple CPU cores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processing: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operations must wait in line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Poor scalability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Performance degrades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significantly under load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parallelism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- Cannot handle concurrent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operations</a:t>
                      </a: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2436" y="648230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01A0473F-7F39-A71B-0CFC-D84EE1C09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944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50E06F-87BD-D5DE-2D11-178B95DFC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B904824-65BF-2617-503A-3462C2E53C3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12A02E5-013B-132D-DFE3-8BFEB47D5B37}"/>
              </a:ext>
            </a:extLst>
          </p:cNvPr>
          <p:cNvSpPr txBox="1"/>
          <p:nvPr/>
        </p:nvSpPr>
        <p:spPr>
          <a:xfrm>
            <a:off x="-1" y="-19799"/>
            <a:ext cx="78251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9182C66-0C23-6D7D-A10A-A3931ACD2428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062976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Resource Waste Issue: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- Tiger Looper uses POSIX timer creation (</a:t>
            </a:r>
            <a:r>
              <a:rPr lang="en-US" b="0" err="1">
                <a:latin typeface="Arial" panose="020B0604020202020204" pitchFamily="34" charset="0"/>
                <a:cs typeface="Arial" panose="020B0604020202020204" pitchFamily="34" charset="0"/>
              </a:rPr>
              <a:t>timer_create</a:t>
            </a: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 with SIGEV_THREAD type)</a:t>
            </a:r>
            <a:b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https://man7.org/linux/man-pages/man2/timer_create.2.html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- Each timer creates new thread to handle timer callback → Massive memory overhead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100 timers = 100 threads = 800MB memory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- System instability under load, poor scalability </a:t>
            </a:r>
            <a:endParaRPr lang="en-US" sz="1000" b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-  Memory waste: 8MB per timer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- CPU overhead from thread switching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Ø"/>
            </a:pPr>
            <a:r>
              <a:rPr lang="en-US" b="0">
                <a:latin typeface="Arial" panose="020B0604020202020204" pitchFamily="34" charset="0"/>
                <a:cs typeface="Arial" panose="020B0604020202020204" pitchFamily="34" charset="0"/>
              </a:rPr>
              <a:t>Tiger Looper's thread-per-timer design is fundamentally inefficient for production use.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8BB1F3D-B951-E184-12F0-50E1F1E186B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21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CE26C7D-F6B8-33BD-0AE7-C9658BD7D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17851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1389" y="538037"/>
            <a:ext cx="6460692" cy="55251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4893" y="6185363"/>
            <a:ext cx="2007188" cy="6315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39D2EA1-3834-2DC1-C0AE-D8237FB67F29}"/>
              </a:ext>
            </a:extLst>
          </p:cNvPr>
          <p:cNvSpPr txBox="1"/>
          <p:nvPr/>
        </p:nvSpPr>
        <p:spPr>
          <a:xfrm>
            <a:off x="6470442" y="6261913"/>
            <a:ext cx="25292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Fig 16: Timer problem in Tiger Looper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448433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9974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6006492" cy="1124686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/>
              <a:t>Advanced Timer Management</a:t>
            </a:r>
            <a:endParaRPr lang="en-US" b="0" dirty="0"/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dedicated timer thread architecture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SW Task uses a single timer thread to manage Client application’s timers.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- 1 dedicated timer thread handles 1000+ timers efficiently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kernel integration for optimal performance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O(1) timer creation, deletion, and expiration operations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Constant memory usage regardless of timer count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Technical benefits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Scalability: Single thread scales to thousands of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Kernel Optimization: Direct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integration eliminates polling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Memory Efficiency: Fixed memory footprint vs. thread-per-timer approach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Performance: O(1) operations ensure consistent response times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Operational efficiency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Timer events processed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with minimal CPU overhead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Expired timer callbacks posted to main thread for execution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Automatic cleanup of one-shot timers, persistent handling of periodic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Thread-safe cancellation without blocking timer operations</a:t>
            </a:r>
            <a:endParaRPr lang="en-US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22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64938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545" y="669553"/>
            <a:ext cx="3969256" cy="564967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326" y="5594141"/>
            <a:ext cx="1337301" cy="608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EBE8988-F5A8-847E-35FD-0787278547CA}"/>
              </a:ext>
            </a:extLst>
          </p:cNvPr>
          <p:cNvSpPr txBox="1"/>
          <p:nvPr/>
        </p:nvSpPr>
        <p:spPr>
          <a:xfrm>
            <a:off x="8091070" y="6325731"/>
            <a:ext cx="29546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17: module view of Timer system in SW Task</a:t>
            </a:r>
          </a:p>
        </p:txBody>
      </p:sp>
    </p:spTree>
    <p:extLst>
      <p:ext uri="{BB962C8B-B14F-4D97-AF65-F5344CB8AC3E}">
        <p14:creationId xmlns:p14="http://schemas.microsoft.com/office/powerpoint/2010/main" val="32095670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96633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Looper vs. SW Task Comparison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Problems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N threads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Thread creation overhead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Context switch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Advantages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1 thread only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No thread creation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Single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call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Scales to thousands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681" y="1013809"/>
            <a:ext cx="9075875" cy="571327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277" y="4810252"/>
            <a:ext cx="2399252" cy="754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FEC3403-A70E-30C0-21D3-D2329E91BF29}"/>
              </a:ext>
            </a:extLst>
          </p:cNvPr>
          <p:cNvSpPr txBox="1"/>
          <p:nvPr/>
        </p:nvSpPr>
        <p:spPr>
          <a:xfrm>
            <a:off x="3992325" y="5877175"/>
            <a:ext cx="31710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18: compare Timer of SW Task and Tiger Looper</a:t>
            </a:r>
          </a:p>
        </p:txBody>
      </p:sp>
    </p:spTree>
    <p:extLst>
      <p:ext uri="{BB962C8B-B14F-4D97-AF65-F5344CB8AC3E}">
        <p14:creationId xmlns:p14="http://schemas.microsoft.com/office/powerpoint/2010/main" val="3851387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138382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Fig 15 shows communication diagram for using timer in SW Task.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It provides below advantages: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Scalability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Efficiently handles multiple timers and file descriptors with low overhead, ideal for high-concurrency applications.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event loop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Integrates timer events in a single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call, simplifying event-driven programming.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Precision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provides high-resolution timers, and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ensures accurate, non-blocking event notifications.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efficiency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Minimizes CPU usage by only reporting active timers, avoiding busy polling.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Flexibility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Supports both one-shot and periodic timers, with easy reconfiguration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timerfd_settime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0192" y="581025"/>
            <a:ext cx="7153275" cy="569595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186" y="5218946"/>
            <a:ext cx="1378953" cy="814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96EAEA8-B069-2DF8-EB4D-7BC88395865A}"/>
              </a:ext>
            </a:extLst>
          </p:cNvPr>
          <p:cNvSpPr txBox="1"/>
          <p:nvPr/>
        </p:nvSpPr>
        <p:spPr>
          <a:xfrm>
            <a:off x="5506976" y="6233239"/>
            <a:ext cx="2909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19: Communication diagram for timer design</a:t>
            </a:r>
          </a:p>
        </p:txBody>
      </p:sp>
    </p:spTree>
    <p:extLst>
      <p:ext uri="{BB962C8B-B14F-4D97-AF65-F5344CB8AC3E}">
        <p14:creationId xmlns:p14="http://schemas.microsoft.com/office/powerpoint/2010/main" val="9568820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65510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Tx/>
              <a:buChar char="-"/>
            </a:pPr>
            <a:r>
              <a:rPr lang="en-US" b="0" dirty="0"/>
              <a:t>Timer creation in SW task and simple example in user code.</a:t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635" y="702301"/>
            <a:ext cx="7369778" cy="5858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73942DBF-2BAE-77C4-BA4B-BB59A527CD63}"/>
              </a:ext>
            </a:extLst>
          </p:cNvPr>
          <p:cNvSpPr txBox="1"/>
          <p:nvPr/>
        </p:nvSpPr>
        <p:spPr>
          <a:xfrm>
            <a:off x="7160358" y="6501136"/>
            <a:ext cx="13195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000" dirty="0"/>
              <a:t>Fig 20: Timer </a:t>
            </a:r>
            <a:r>
              <a:rPr lang="en-US" sz="1000" noProof="0" dirty="0"/>
              <a:t>creation</a:t>
            </a:r>
            <a:endParaRPr lang="en-US" sz="1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30499039-F55B-0A62-D4DF-0E54F2E77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94" y="2151275"/>
            <a:ext cx="4403541" cy="23169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41106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5843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Internal interaction in detailed.</a:t>
            </a:r>
          </a:p>
          <a:p>
            <a:pPr>
              <a:buFontTx/>
              <a:buChar char="-"/>
            </a:pP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is I/O multiplexing to check timer events from Linux kernel.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26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7412" y="426680"/>
            <a:ext cx="6894495" cy="64008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10983D6F-659C-0E81-1157-817B3CA3E59B}"/>
              </a:ext>
            </a:extLst>
          </p:cNvPr>
          <p:cNvSpPr txBox="1"/>
          <p:nvPr/>
        </p:nvSpPr>
        <p:spPr>
          <a:xfrm>
            <a:off x="1982571" y="6475254"/>
            <a:ext cx="2858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21: Internal interaction for Timer processing</a:t>
            </a:r>
          </a:p>
        </p:txBody>
      </p:sp>
    </p:spTree>
    <p:extLst>
      <p:ext uri="{BB962C8B-B14F-4D97-AF65-F5344CB8AC3E}">
        <p14:creationId xmlns:p14="http://schemas.microsoft.com/office/powerpoint/2010/main" val="830657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0564-83E7-6BD6-463E-FEA167D0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D2AABFA-08F0-5A0C-9BD8-31D4C998401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FE86035-DBF9-D1B8-B217-6A8C9841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27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02242B4-6344-231C-EFAF-9F222F24449A}"/>
              </a:ext>
            </a:extLst>
          </p:cNvPr>
          <p:cNvSpPr txBox="1"/>
          <p:nvPr/>
        </p:nvSpPr>
        <p:spPr>
          <a:xfrm>
            <a:off x="48533" y="59064"/>
            <a:ext cx="8210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AB9BBB4-3C81-AD73-865B-3EA663C274D5}"/>
              </a:ext>
            </a:extLst>
          </p:cNvPr>
          <p:cNvSpPr txBox="1"/>
          <p:nvPr/>
        </p:nvSpPr>
        <p:spPr>
          <a:xfrm>
            <a:off x="48534" y="587680"/>
            <a:ext cx="343078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The design of Timer in SW Task shows that it satisfies QA-02: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provide optimal resource utilization with advanced timer management (Efficiency)</a:t>
            </a:r>
          </a:p>
          <a:p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D6E3A6E-142C-8A1D-1F2F-361EC61B76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766073"/>
              </p:ext>
            </p:extLst>
          </p:nvPr>
        </p:nvGraphicFramePr>
        <p:xfrm>
          <a:off x="3870854" y="753015"/>
          <a:ext cx="8272612" cy="480333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30299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84618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257695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8407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Single timer thread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Handles 1000+ timers efficiently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Constant memory usage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regardless of timer count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O(1) timer operations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kernel integration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 thread proliferation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Eliminates SIGEV_THREAD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Kernel-level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timerfd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Linear scalability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To thousands of timers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Fixed memory footprint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Simple resource model: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Easy to understand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POSIX compliance: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Standard timer APIs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Sequential execution is deterministic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Linux-specific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dependency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proliferation: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Each timer creates new thread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Exponential memory growth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100 timers = 800MB memory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High context switch overhead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Excessive CPU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System instability under moderate loads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C43916FC-6842-1091-9490-D57D65E64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208" y="528084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149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ECB2EED-4BCE-0992-83BF-2E10C203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B58D22-3158-E8C3-5B69-36FD9A41695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3A86ABB-603B-FBD2-D1FD-B66B6124DD5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404496-6C05-0E70-84AC-6210790258F1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958179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Monolithic Interface</a:t>
            </a: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uses Android style: message, handler, looper.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Provide only Message/Handler programming style (Single programming paradigm only)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Below steps depicts user code example using Tiger Looper.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(1) Create/setup handler. Handler need specific implementation from abstract Handler class.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(2) User code create message and send it to specific handler.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(3) Event loop processes messages in queue and invokes registered handler.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95D2885-B29A-6F43-A389-F86EEDC6EBB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DF5BD971-EC17-0C01-9F0E-98043307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623707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635" y="1708365"/>
            <a:ext cx="5005658" cy="340607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8648" y="5114441"/>
            <a:ext cx="1466471" cy="5977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9C8EEB4-0EA1-6F9C-937F-440974FEC218}"/>
              </a:ext>
            </a:extLst>
          </p:cNvPr>
          <p:cNvSpPr txBox="1"/>
          <p:nvPr/>
        </p:nvSpPr>
        <p:spPr>
          <a:xfrm>
            <a:off x="7077292" y="5875132"/>
            <a:ext cx="2218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22: Module view of Tiger Looper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20E6321-63FD-23F8-8A31-20A92480F2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128" y="3035686"/>
            <a:ext cx="3127401" cy="35032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359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32781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 Facade Pattern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SW Task uses Façade pattern to make simple for user code.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It provides </a:t>
            </a: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 programming paradigms (Message, functor, promise feature).</a:t>
            </a:r>
            <a:r>
              <a:rPr lang="en-US" b="0" dirty="0">
                <a:solidFill>
                  <a:srgbClr val="FF0000"/>
                </a:solidFill>
              </a:rPr>
              <a:t/>
            </a:r>
            <a:br>
              <a:rPr lang="en-US" b="0" dirty="0">
                <a:solidFill>
                  <a:srgbClr val="FF0000"/>
                </a:solidFill>
              </a:rPr>
            </a:br>
            <a:endParaRPr lang="en-US" b="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Interface: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Single entry point for all functionality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Hides complex subsystem interactions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Multiple access methods for different skill levels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Message API (Android style):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Familiar Handler/Message pattern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Complete backward compatibility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Function/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Coroutines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API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(Modern C++):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Leverages lambdas, auto, RAII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Type-safe operations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Clean, concise syntax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Promise API (JavaScript style)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Advanced async composition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Built-in exception propagation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Declarative programming model</a:t>
            </a:r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29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940594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836" y="626310"/>
            <a:ext cx="3958694" cy="540361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0123" y="6037257"/>
            <a:ext cx="1402678" cy="6381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C9102B96-2A7E-30B0-6EF2-D5CEE48ED007}"/>
              </a:ext>
            </a:extLst>
          </p:cNvPr>
          <p:cNvSpPr txBox="1"/>
          <p:nvPr/>
        </p:nvSpPr>
        <p:spPr>
          <a:xfrm>
            <a:off x="6904763" y="6217849"/>
            <a:ext cx="20152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23: Module view of SW Task</a:t>
            </a:r>
          </a:p>
        </p:txBody>
      </p:sp>
    </p:spTree>
    <p:extLst>
      <p:ext uri="{BB962C8B-B14F-4D97-AF65-F5344CB8AC3E}">
        <p14:creationId xmlns:p14="http://schemas.microsoft.com/office/powerpoint/2010/main" val="38470603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001113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Looper vs. SW Task comparison</a:t>
            </a:r>
          </a:p>
          <a:p>
            <a:pPr marL="0" indent="0">
              <a:buNone/>
            </a:pPr>
            <a:endParaRPr lang="en-US" b="0" dirty="0"/>
          </a:p>
          <a:p>
            <a:pPr marL="0" indent="0">
              <a:buNone/>
            </a:pPr>
            <a:r>
              <a:rPr lang="en-US" dirty="0"/>
              <a:t>Tiger Looper:</a:t>
            </a:r>
          </a:p>
          <a:p>
            <a:pPr marL="0" indent="0">
              <a:buNone/>
            </a:pPr>
            <a:r>
              <a:rPr lang="en-US" b="0" dirty="0"/>
              <a:t>- </a:t>
            </a:r>
            <a:r>
              <a:rPr lang="en-US" b="0" dirty="0" err="1"/>
              <a:t>MessageQueue</a:t>
            </a:r>
            <a:r>
              <a:rPr lang="en-US" b="0" dirty="0"/>
              <a:t> only contains Message object elements</a:t>
            </a:r>
          </a:p>
          <a:p>
            <a:pPr marL="0" indent="0">
              <a:buNone/>
            </a:pPr>
            <a:r>
              <a:rPr lang="en-US" b="0" dirty="0"/>
              <a:t>- Its event loop only handle Message type.</a:t>
            </a:r>
            <a:br>
              <a:rPr lang="en-US" b="0" dirty="0"/>
            </a:br>
            <a:endParaRPr lang="en-US" b="0" dirty="0"/>
          </a:p>
          <a:p>
            <a:pPr marL="0" indent="0">
              <a:buNone/>
            </a:pPr>
            <a:r>
              <a:rPr lang="en-US" dirty="0"/>
              <a:t>SW Task:</a:t>
            </a:r>
          </a:p>
          <a:p>
            <a:pPr marL="0" indent="0">
              <a:buNone/>
            </a:pPr>
            <a:r>
              <a:rPr lang="en-US" b="0" dirty="0"/>
              <a:t>- Extend </a:t>
            </a:r>
            <a:r>
              <a:rPr lang="en-US" b="0" dirty="0" err="1"/>
              <a:t>MessageQueue</a:t>
            </a:r>
            <a:r>
              <a:rPr lang="en-US" b="0" dirty="0"/>
              <a:t> to </a:t>
            </a:r>
            <a:r>
              <a:rPr lang="en-US" b="0" dirty="0" err="1"/>
              <a:t>EventQueue</a:t>
            </a:r>
            <a:r>
              <a:rPr lang="en-US" b="0" dirty="0"/>
              <a:t>, which contains </a:t>
            </a:r>
            <a:br>
              <a:rPr lang="en-US" b="0" dirty="0"/>
            </a:br>
            <a:r>
              <a:rPr lang="en-US" b="0" dirty="0" err="1"/>
              <a:t>QueueItem</a:t>
            </a:r>
            <a:r>
              <a:rPr lang="en-US" b="0" dirty="0"/>
              <a:t> elements. </a:t>
            </a:r>
          </a:p>
          <a:p>
            <a:pPr marL="0" indent="0">
              <a:buNone/>
            </a:pPr>
            <a:r>
              <a:rPr lang="en-US" b="0" dirty="0"/>
              <a:t>- Message object and Functors (callable objects </a:t>
            </a:r>
            <a:br>
              <a:rPr lang="en-US" b="0" dirty="0"/>
            </a:br>
            <a:r>
              <a:rPr lang="en-US" b="0" dirty="0"/>
              <a:t>such as lambda, std::function, std::</a:t>
            </a:r>
            <a:r>
              <a:rPr lang="en-US" b="0" dirty="0" err="1"/>
              <a:t>packaged_task</a:t>
            </a:r>
            <a:r>
              <a:rPr lang="en-US" b="0" dirty="0"/>
              <a:t>, </a:t>
            </a:r>
            <a:br>
              <a:rPr lang="en-US" b="0" dirty="0"/>
            </a:br>
            <a:r>
              <a:rPr lang="en-US" b="0" dirty="0"/>
              <a:t>function pointer) are wrapped in </a:t>
            </a:r>
            <a:r>
              <a:rPr lang="en-US" b="0" dirty="0" err="1"/>
              <a:t>QueueItem</a:t>
            </a:r>
            <a:r>
              <a:rPr lang="en-US" b="0" dirty="0"/>
              <a:t> elements.</a:t>
            </a:r>
          </a:p>
          <a:p>
            <a:pPr marL="0" indent="0">
              <a:buNone/>
            </a:pPr>
            <a:r>
              <a:rPr lang="en-US" b="0" dirty="0"/>
              <a:t>- All types of callable objects are unified in event queue for flexible and modern C++ event loop processing.</a:t>
            </a:r>
            <a:br>
              <a:rPr lang="en-US" b="0" dirty="0"/>
            </a:br>
            <a:r>
              <a:rPr lang="en-US" b="0" dirty="0"/>
              <a:t/>
            </a:r>
            <a:br>
              <a:rPr lang="en-US" b="0" dirty="0"/>
            </a:br>
            <a:r>
              <a:rPr lang="en-US" b="0" dirty="0"/>
              <a:t>Example of new supported callable objects in SW Task below.</a:t>
            </a: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30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1382" y="4863506"/>
            <a:ext cx="1458395" cy="524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8BC0A550-1E88-FA83-EBAF-C56E9B98AD20}"/>
              </a:ext>
            </a:extLst>
          </p:cNvPr>
          <p:cNvSpPr txBox="1"/>
          <p:nvPr/>
        </p:nvSpPr>
        <p:spPr>
          <a:xfrm>
            <a:off x="8026197" y="4844129"/>
            <a:ext cx="29706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24: comparison of SW Task and Tiger Looper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346E0CA-1A59-0431-6E56-B91EDBAF25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8506" y="641621"/>
            <a:ext cx="7820244" cy="41573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97AFC576-8B08-91EA-BAB1-F5F0CE37A3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94" y="4264233"/>
            <a:ext cx="3172536" cy="18656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53802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45532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Simple code example for using SW Task framework for different programming paradigms. User code is C++, support different style/paradigms by other programming languages.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31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3" y="1560744"/>
            <a:ext cx="2760217" cy="33217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047" y="1560744"/>
            <a:ext cx="2747206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242" y="1560744"/>
            <a:ext cx="3412665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6844" y="4902490"/>
            <a:ext cx="13265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Android-style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9375" y="4990777"/>
            <a:ext cx="159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Modern C++ style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2445" y="4902490"/>
            <a:ext cx="14406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JavaScript-style user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82BD452-EE4B-65C0-AF37-5C6E5EFF247F}"/>
              </a:ext>
            </a:extLst>
          </p:cNvPr>
          <p:cNvSpPr txBox="1"/>
          <p:nvPr/>
        </p:nvSpPr>
        <p:spPr>
          <a:xfrm>
            <a:off x="4710050" y="6046788"/>
            <a:ext cx="32015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25: Different programming paradigms in SW Task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848C6445-F480-73C9-C12E-DA8B39E740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1990" y="1560744"/>
            <a:ext cx="2838943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5908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5885737-F482-8F07-4E7C-74FF7443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0BA13-B8C6-A761-610D-7DC3DBDF68A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E29EF90-B7D8-8791-FFBE-03601758710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0E62B5FC-C66B-F2B6-010A-1F75535D3B52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CFE800-7B84-400E-3B1D-070D7FB2F364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9EF7F17D-A194-A1C7-0251-BBBC3246CB23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32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93D24642-4C0C-043D-2E55-91C319F276D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CE62966-F480-263F-D805-76A451962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726" y="1461783"/>
            <a:ext cx="7772400" cy="411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145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36A080-7FC0-831F-DAAE-92687779A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65A257-A189-A6C6-9D7C-A22AC65B28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F12952C-281C-94A8-BF5B-442536CF8CC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8055E36-8E7D-B97D-EF89-6872C47A9C4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5FE5874B-5123-040F-F6B4-BF078E214FF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0AB6A04-E65D-C34F-B03E-5887AE88E7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5C7C2A4F-A99A-FFB8-B34D-F987C1A01477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6EEF3AF5-E5BE-ABB9-734F-B49C5BEDA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674" y="1198581"/>
            <a:ext cx="7772400" cy="500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651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E41BDB-FB35-68EE-9000-0CCA60CCF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4F6C00C-F24C-1A07-8C77-4E672D51739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55B12AA-B825-9BBF-C9D1-DC06DAEAA9A7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362C0E2-D834-FD76-4978-34406D4C952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291BDE80-7124-54F8-38D6-69B19F0CE26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9CF2649-D1D5-4B18-DD93-B0CB20386F8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275C071A-8B2C-2EF1-9DFB-DCA1BD13C973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AEB05E16-19FE-A22A-404C-96FC1CA47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42" y="1103790"/>
            <a:ext cx="8929608" cy="38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46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A23A6A-C18E-6837-2299-FFE77922B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227CEB6-09A0-87A0-2107-CD53C7D61A4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C03BBED-20E3-EBE4-DB90-675D02077BF4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4DFBF1B-7A19-718A-FD0B-4691E442790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F56F98B-C016-BD12-5890-41419C6123D5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6BF59DD7-EF72-FE8E-5B9C-FF27E05E4C7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471A1092-A759-7D96-0F4C-384D54854A9A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225AA0E0-0A06-20EC-8E49-738F87661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766" y="532849"/>
            <a:ext cx="6823621" cy="60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96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5385C7-D5CC-53B3-DEE1-06F124C3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5E3D99F-4C94-1BB5-3A0D-213C75A07A4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1462D46A-084D-838B-A4A1-CC1111A8A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8C09AD-1D35-2F09-6FC0-6EC9FD2DACDB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7070C67-8539-4474-8329-AE144D023FD8}"/>
              </a:ext>
            </a:extLst>
          </p:cNvPr>
          <p:cNvSpPr txBox="1"/>
          <p:nvPr/>
        </p:nvSpPr>
        <p:spPr>
          <a:xfrm>
            <a:off x="498185" y="656692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of Timer in SW Task shows that it satisfies QA-03: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hide system complexity and support multiple programming paradigms.</a:t>
            </a:r>
          </a:p>
          <a:p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(Useability)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20CC301D-8105-4342-5A44-F62DC6BED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060445"/>
              </p:ext>
            </p:extLst>
          </p:nvPr>
        </p:nvGraphicFramePr>
        <p:xfrm>
          <a:off x="4479984" y="699414"/>
          <a:ext cx="7602865" cy="5440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8311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10601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2993953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5873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5351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interface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Single entry point for all functionality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pattern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hides subsystem complexity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Multiple access methods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 different skill levels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Familiar Message API for Android style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(backward compatibility)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Function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Supports lambdas, auto, RAII, type-safe operations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Advanced async composition, exception propagation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Clean, concise syntax; declarative programming model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monolithic interface: Easy to understand for basic use cases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Familiar Handler/Message pattern for Android style developers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672993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More complex API may require documentation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Slightly higher learning curve for new users unfamiliar with async patterns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supports single programming paradigm (Message/Handler)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flexibility or choice for developers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RAII, async)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-All developers forced to use same pattern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6844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EC82293C-C790-B791-0960-5537B66FF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529" y="5877783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E4E24EB-E634-1757-2006-8CAE8BC7CA7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894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CD02EC-11C6-C914-88BE-4321425B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24D30C-B840-E769-CCDA-B8680C9E86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06DDBC-1239-DC1C-1A6C-8BFB5DF611BF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.4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58C8623-4BDD-BA28-D5DC-A94C9E5B0E8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68EAFCF-37CD-C9C4-5A88-6FEA66E81C70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263031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Backward Compatible Enhancement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Main purpose: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Telematic projects in LGE use Tiger looper (Tiger framework). 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SW Task requires to reduce impact of legacy client code. All existing APIs should be kept.</a:t>
            </a:r>
          </a:p>
          <a:p>
            <a:pPr marL="0" indent="0">
              <a:buNone/>
            </a:pP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Legacy API Preservation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Tiger APIs preserved unchanged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Existing code compiles without modifications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Modern API Addition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Function and Promise APIs added to same classes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Template-based type safety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RAII resource management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Processing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Message and Function use same event queue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Legacy and modern code coexist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Zero risk migration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itchFamily="2" charset="2"/>
              <a:buChar char="v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Design of backward compatible enhancement is shown in Fig 22.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2A7E68C4-B203-9420-CC00-4BA045FC354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37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90819F2-2DE5-333A-161E-D9D1E70C4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924740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066" y="802514"/>
            <a:ext cx="6582387" cy="573639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122" y="1095940"/>
            <a:ext cx="2181421" cy="6863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6B82835-7AF2-A11C-A14A-AC52B736CA0F}"/>
              </a:ext>
            </a:extLst>
          </p:cNvPr>
          <p:cNvSpPr txBox="1"/>
          <p:nvPr/>
        </p:nvSpPr>
        <p:spPr>
          <a:xfrm>
            <a:off x="7650906" y="6501136"/>
            <a:ext cx="32063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26: C&amp;C diagram for backward compatible design</a:t>
            </a:r>
          </a:p>
        </p:txBody>
      </p:sp>
    </p:spTree>
    <p:extLst>
      <p:ext uri="{BB962C8B-B14F-4D97-AF65-F5344CB8AC3E}">
        <p14:creationId xmlns:p14="http://schemas.microsoft.com/office/powerpoint/2010/main" val="2967029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3CF8BB-D3BE-C10C-2D7A-31EF760F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C3A3A0A-A372-082F-1657-A9D6565C043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139BC0D-40EA-11BB-F338-B8A18B86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38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7B04515-313B-9B7E-8980-E038DD793DA8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5.4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0678ADC0-984F-3B82-F0B2-0D7EBF872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063555"/>
              </p:ext>
            </p:extLst>
          </p:nvPr>
        </p:nvGraphicFramePr>
        <p:xfrm>
          <a:off x="4209328" y="1196611"/>
          <a:ext cx="7884543" cy="452441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53822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22584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104876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6298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21551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API preserved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Existing Tiger APIs remain unchanged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API addition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Function and Promise APIs added to same classes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RAII resource management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Message and Function use same queue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and modern code coexist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Zero risk migration for existing projects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stable legacy API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Easy reuse for projects already using Handler/Message pattern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32930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Increased codebase complexity to support both legacy and modern APIs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promises, RAII)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Difficult to extend or migrate to new programming paradigms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one programming style supported; limited flexibility for future reuse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0178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A6FAE9FB-3B87-E199-314A-37D70E237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88" y="5445365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25C93C3-EB25-36F1-0246-67181CE824D4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42435B9A-5143-C637-57B6-30F599F74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98747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81B2D14-05B3-1CD1-9A73-55F68F0F23EE}"/>
              </a:ext>
            </a:extLst>
          </p:cNvPr>
          <p:cNvSpPr txBox="1"/>
          <p:nvPr/>
        </p:nvSpPr>
        <p:spPr>
          <a:xfrm>
            <a:off x="98129" y="754459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in SW Task shows that it satisfies QA-04: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provide backward compatible API enhancement for Tiger Looper. Legacy client source code using Tiger Looper must not be impacted (Reusability)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3659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39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 performance for SW Task vs. Tiger Looper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06861"/>
            <a:ext cx="4977278" cy="73758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Test scenario: 5 heavy CPU tasks + 5 normal tasks executed simultaneously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Measurement: End-to-end task completion time (post → complete)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Environment: Same hardware/OS conditions for both frameworks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execute on dedicated CPU-bound task thread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Normal tasks execute on main event loop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Parallel execution prevents blocking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Consistent ~500ms regardless of task mix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Tiger Looper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tasks execute sequentially on single event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block subsequent task processing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FIFO queuing causes cumulative delays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Linear time increase: 526ms → 1247ms → 2874ms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QA-01 Compliance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✅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SW Task meets requirement: All tasks complete under 1 second</a:t>
            </a: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Tiger Looper fails: Tasks exceed 1s with 2.87s maximum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endParaRPr lang="en-US" altLang="ko-KR" sz="13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8288" algn="just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x-none" b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106A37BD-D7A8-B51F-EC5B-56A6F4FD1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690" y="1378955"/>
            <a:ext cx="6423440" cy="428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451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40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581090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Timer operation comparison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38957"/>
            <a:ext cx="5309064" cy="580812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Load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1000 one-shot timers + 50 periodic timers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Duration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30 seconds continuous operation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Metrics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CPU usage (%), RAM usage (RSS, MB), Resource efficiency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Memory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Flat memory usage (~3.8MB) - optimized timer data structures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Step growth pattern (3.8→4.4→4.9MB) - memory leaks or inefficient allocation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uses 29% less memory with stable consumption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CPU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Consistent low usage with smaller spikes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Higher peak CPU (17.8% vs 12.6%) - inefficient timer handling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delivers 41% lower CPU spikes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</a:t>
            </a: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QA-02 Compliance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✅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Superior resource utilization with 29% memory savings and 41% lower CPU peaks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❌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Inefficient resource usage with growing memory footprint</a:t>
            </a:r>
            <a:endParaRPr lang="en-US" altLang="ko-KR" sz="11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17" y="228110"/>
            <a:ext cx="4720503" cy="31311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507" y="3492707"/>
            <a:ext cx="4867737" cy="322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0133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4ED9FED-C154-D0B6-956D-1550362E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97DB04F-D27B-E7B1-9C50-6D3E72B29F6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007C9D8-2E21-15B4-B2A6-0A108313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41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DACA686-E0EF-A6E6-D859-45AB1D16FE68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7. Conclusion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9DE03A2F-4721-6393-8E3C-C58A30DDAD6B}"/>
              </a:ext>
            </a:extLst>
          </p:cNvPr>
          <p:cNvSpPr txBox="1">
            <a:spLocks/>
          </p:cNvSpPr>
          <p:nvPr/>
        </p:nvSpPr>
        <p:spPr>
          <a:xfrm>
            <a:off x="335360" y="833284"/>
            <a:ext cx="5281670" cy="443813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advantages over Tiger Looper</a:t>
            </a:r>
            <a:b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Performance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Support CPU-bound task handling: non-blocking event loop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Promise-based and Coroutines-based asynchronous helper: reduce significantly response time by using effective concurrency.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Efficiency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Single Timer Manager thread manages unlimited timers compared to use thread-per-timer in Tiger Looper.</a:t>
            </a:r>
          </a:p>
          <a:p>
            <a:pPr marL="180975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Use Linux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timerfd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 and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epoll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 instead of POSIX timer in Tiger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Looper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: 90% overhead reduction</a:t>
            </a:r>
          </a:p>
          <a:p>
            <a:pPr marL="352425" lvl="0" indent="-171450" algn="just">
              <a:buFontTx/>
              <a:buChar char="-"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F8A3AEAD-8BE8-1684-A50C-B4CE7FC5E1C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A3BA82F2-4B9E-63F3-CCF7-36E61B249DB5}"/>
              </a:ext>
            </a:extLst>
          </p:cNvPr>
          <p:cNvSpPr txBox="1">
            <a:spLocks/>
          </p:cNvSpPr>
          <p:nvPr/>
        </p:nvSpPr>
        <p:spPr>
          <a:xfrm>
            <a:off x="5974738" y="1329034"/>
            <a:ext cx="5281670" cy="412728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Multi-paradigm: JS-based promise chains, Coroutines, Android-style messages, modern C++17/20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Rich API: functions Posting, Promise-based and Coroutines-based Async, Timer management, Android-style message. 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Flexible programming models: provide more API options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- 100% backward compatible: drop-in replacement, zero migration cost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Additive enhancement: new features don't break existing code.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Future-proof: Support modern C++ evolution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F0EE8366-8F0D-8112-85D6-5F4AF341C693}"/>
              </a:ext>
            </a:extLst>
          </p:cNvPr>
          <p:cNvSpPr txBox="1">
            <a:spLocks/>
          </p:cNvSpPr>
          <p:nvPr/>
        </p:nvSpPr>
        <p:spPr>
          <a:xfrm>
            <a:off x="335360" y="3908848"/>
            <a:ext cx="5281670" cy="1720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rgbClr val="FF0000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SW Task Framework outperforms Tiger Looper framework comprehensively with higher performance, efficient resource efficiency, and API flexibility, while ensuring 100% backward compatibility.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795" y="4140565"/>
            <a:ext cx="6009589" cy="214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684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735AC99-4C76-CD36-852E-9C63CD70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722DA3A-A650-7A88-90B4-3C36DD2022D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289026B-AE49-F36A-BAA6-26FEAC88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42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32D332D-B042-A87C-D25F-73D23AA83A7A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1E310C2F-6A79-BB6B-AB72-AD04C6056E7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4FEA021-D9DE-A595-6F70-45357C29AAA8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Diagram(1)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C09FE4A-AC91-3543-56F3-BEB688ED0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887" y="1944414"/>
            <a:ext cx="3609700" cy="37289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8EAF2DB-08FA-AAE1-458F-CB20757E8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992" y="1049091"/>
            <a:ext cx="7759151" cy="530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800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2D93DB-FF71-D304-8691-92006B4FD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A18DFF8-27D3-636F-9248-757DF8ABC3F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ED020F5-8443-675A-057E-21208C2D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43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B5CA6ED-28C0-FCBF-BF6F-1B2C738341C0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D6905E7D-FFFE-781F-1DBD-DB96B6599BA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470E1382-A1B2-0810-9412-927061FF8209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Diagram(2)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2881BC9-85A1-72F0-7313-EEDBD8C0A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661" y="1269912"/>
            <a:ext cx="2068124" cy="31618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36FE33A5-8AE4-7A1F-59E2-59B3E9AAF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1189" y="1223439"/>
            <a:ext cx="2274378" cy="34543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48FE9354-D162-399D-C56C-34B985613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254" y="1223439"/>
            <a:ext cx="5062034" cy="324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186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089713E-3366-F8AA-2B6B-31163D379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7B74C8B-009D-128C-096D-01748C16968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4DBB393-1496-8605-3DA3-1AC72D7EB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44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F078090-26AD-0D97-B975-16AAC2C653F5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2EAB263-EE26-6C1D-F61F-7638015EE53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CAB85A6E-BFCC-A0A9-41BD-574B098BD52F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Diagram(3)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AB39385-EF4F-A045-3178-9212C9C6B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799" y="1046838"/>
            <a:ext cx="9519706" cy="509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298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EF178-37DE-F4CE-08DA-65166028B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75E243-A0C8-D095-EF5D-AEAA717AF83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9514FB01-5D3E-A420-33AA-DF68EA22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45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8D90846-C899-0D82-FE57-7E13991D82C3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0C0C83E9-118B-3C1D-20D9-4E37A86AD68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EAAC2424-00A8-ECFB-3B90-952CD172FE8E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Diagram(4)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FD1B766C-AF68-CDD1-4A11-2DF43E624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4" y="1111048"/>
            <a:ext cx="11407149" cy="433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124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1C34A5-99FB-5B12-3A6E-AC376774E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915F862-7F5F-0237-8B51-4FB7D224254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0CE3705-681C-E4D1-4012-C50432F85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BEA6F84-1CED-F235-616B-3A1198D2CDA2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30DD2A8F-8FB2-2AEA-FCD4-05A9C73F28C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9E3C4E2-A160-E152-A802-3D58DA184F95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Diagram(5)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8C958DE-6744-C9ED-367D-BF164316E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782" y="889559"/>
            <a:ext cx="3966779" cy="48550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63BB4C78-734A-3E9E-9837-219EB2E06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305" y="716106"/>
            <a:ext cx="4503913" cy="59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5997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269510B-938A-54D6-2A74-E75A8EB0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A481B77-20AA-3D97-A03E-E654CAE6950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10/20/2025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DDED4C7-7921-57C2-A82A-B89FB1A7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47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752655A-6378-1825-B245-06B5362E44BF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5044D51-760F-4B50-69D0-355868C9C3F6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5E8D9CA8-DBD5-F6AC-CD91-04591D777A9A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Diagram(6)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C2C47F39-0F00-4DA8-53A0-83EF0AB31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399" y="926979"/>
            <a:ext cx="6026432" cy="47899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052BA5A1-DF7B-056A-D4F5-5CBE41740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04" y="926979"/>
            <a:ext cx="4058116" cy="54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18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9014</TotalTime>
  <Words>3278</Words>
  <Application>Microsoft Office PowerPoint</Application>
  <PresentationFormat>Widescreen</PresentationFormat>
  <Paragraphs>918</Paragraphs>
  <Slides>47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LG Smart UI SemiBold</vt:lpstr>
      <vt:lpstr>맑은 고딕</vt:lpstr>
      <vt:lpstr>Arial</vt:lpstr>
      <vt:lpstr>Arial Narrow</vt:lpstr>
      <vt:lpstr>Calibri</vt:lpstr>
      <vt:lpstr>Calibri Light</vt:lpstr>
      <vt:lpstr>Gulim</vt:lpstr>
      <vt:lpstr>LG스마트체 Regular</vt:lpstr>
      <vt:lpstr>Times New Roman</vt:lpstr>
      <vt:lpstr>Wingdings</vt:lpstr>
      <vt:lpstr>함초롬돋움</vt:lpstr>
      <vt:lpstr>Office Theme</vt:lpstr>
      <vt:lpstr>PowerPoint Presentation</vt:lpstr>
      <vt:lpstr>PowerPoint Presentation</vt:lpstr>
      <vt:lpstr>1. Project Overview </vt:lpstr>
      <vt:lpstr>2. Project Context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Tai Tran Anh</dc:creator>
  <cp:lastModifiedBy>TAI ANH TRAN/LGEVH VS FUNCTIONAL TECHNOLOGY 3(tai2.tran@lge.com)</cp:lastModifiedBy>
  <cp:revision>333</cp:revision>
  <dcterms:created xsi:type="dcterms:W3CDTF">2023-12-04T21:41:05Z</dcterms:created>
  <dcterms:modified xsi:type="dcterms:W3CDTF">2025-10-20T09:14:39Z</dcterms:modified>
</cp:coreProperties>
</file>